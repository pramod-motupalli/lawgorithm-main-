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fonts/font1.fntdata" ContentType="application/x-fontdata"/>
  <Override PartName="/ppt/fonts/font2.fntdata" ContentType="application/x-fontdata"/>
  <Override PartName="/ppt/fonts/font3.fntdata" ContentType="application/x-fontdata"/>
  <Override PartName="/ppt/fonts/font4.fntdata" ContentType="application/x-fontdata"/>
  <Override PartName="/ppt/fonts/font5.fntdata" ContentType="application/x-fontdata"/>
  <Override PartName="/ppt/fonts/font6.fntdata" ContentType="application/x-fontdata"/>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71" r:id="rId16"/>
    <p:sldId id="269" r:id="rId17"/>
    <p:sldId id="270"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Lst>
  <p:sldSz cx="18288000" cy="10287000"/>
  <p:notesSz cx="6858000" cy="9144000"/>
  <p:embeddedFontLst>
    <p:embeddedFont>
      <p:font typeface="Times New Roman Bold" panose="02020803070505020304"/>
      <p:bold r:id="rId36"/>
    </p:embeddedFont>
    <p:embeddedFont>
      <p:font typeface="Calibri" panose="020F0502020204030204" charset="0"/>
      <p:regular r:id="rId37"/>
      <p:bold r:id="rId38"/>
      <p:italic r:id="rId39"/>
      <p:boldItalic r:id="rId40"/>
    </p:embeddedFont>
    <p:embeddedFont>
      <p:font typeface="Canva Sans Bold" panose="020B0803030501040103"/>
      <p:bold r:id="rId4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1" Type="http://schemas.openxmlformats.org/officeDocument/2006/relationships/font" Target="fonts/font6.fntdata"/><Relationship Id="rId40" Type="http://schemas.openxmlformats.org/officeDocument/2006/relationships/font" Target="fonts/font5.fntdata"/><Relationship Id="rId4" Type="http://schemas.openxmlformats.org/officeDocument/2006/relationships/slide" Target="slides/slide2.xml"/><Relationship Id="rId39" Type="http://schemas.openxmlformats.org/officeDocument/2006/relationships/font" Target="fonts/font4.fntdata"/><Relationship Id="rId38" Type="http://schemas.openxmlformats.org/officeDocument/2006/relationships/font" Target="fonts/font3.fntdata"/><Relationship Id="rId37" Type="http://schemas.openxmlformats.org/officeDocument/2006/relationships/font" Target="fonts/font2.fntdata"/><Relationship Id="rId36" Type="http://schemas.openxmlformats.org/officeDocument/2006/relationships/font" Target="fonts/font1.fntdata"/><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1D8BD707-D9CF-40AE-B4C6-C98DA3205C09}"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2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27.xml.rels><?xml version="1.0" encoding="UTF-8" standalone="yes"?>
<Relationships xmlns="http://schemas.openxmlformats.org/package/2006/relationships"><Relationship Id="rId4" Type="http://schemas.openxmlformats.org/officeDocument/2006/relationships/slideLayout" Target="../slideLayouts/slideLayout7.xml"/><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12.png"/><Relationship Id="rId1" Type="http://schemas.openxmlformats.org/officeDocument/2006/relationships/image" Target="../media/image1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BBC8B1"/>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1255125" y="2199507"/>
            <a:ext cx="15777749" cy="1888244"/>
          </a:xfrm>
          <a:prstGeom prst="rect">
            <a:avLst/>
          </a:prstGeom>
        </p:spPr>
        <p:txBody>
          <a:bodyPr lIns="0" tIns="0" rIns="0" bIns="0" rtlCol="0" anchor="t">
            <a:spAutoFit/>
          </a:bodyPr>
          <a:lstStyle/>
          <a:p>
            <a:pPr algn="ctr">
              <a:lnSpc>
                <a:spcPts val="9180"/>
              </a:lnSpc>
            </a:pPr>
            <a:r>
              <a:rPr lang="en-US" sz="805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LAWGORITHM: </a:t>
            </a:r>
            <a:endParaRPr lang="en-US" sz="805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a:p>
            <a:pPr marL="0" lvl="0" indent="0" algn="ctr">
              <a:lnSpc>
                <a:spcPts val="5755"/>
              </a:lnSpc>
            </a:pPr>
            <a:r>
              <a:rPr lang="en-US" sz="5050">
                <a:solidFill>
                  <a:srgbClr val="5F6F52"/>
                </a:solidFill>
                <a:latin typeface="Glacial Indifference"/>
                <a:ea typeface="Glacial Indifference"/>
                <a:cs typeface="Glacial Indifference"/>
                <a:sym typeface="Glacial Indifference"/>
              </a:rPr>
              <a:t>AI AUTOMATED LEGAL ADVISORY</a:t>
            </a:r>
            <a:endParaRPr lang="en-US" sz="5050">
              <a:solidFill>
                <a:srgbClr val="5F6F52"/>
              </a:solidFill>
              <a:latin typeface="Glacial Indifference"/>
              <a:ea typeface="Glacial Indifference"/>
              <a:cs typeface="Glacial Indifference"/>
              <a:sym typeface="Glacial Indifference"/>
            </a:endParaRPr>
          </a:p>
        </p:txBody>
      </p:sp>
      <p:sp>
        <p:nvSpPr>
          <p:cNvPr id="13" name="TextBox 13"/>
          <p:cNvSpPr txBox="1"/>
          <p:nvPr/>
        </p:nvSpPr>
        <p:spPr>
          <a:xfrm>
            <a:off x="-3263003" y="4871734"/>
            <a:ext cx="14744962" cy="1226194"/>
          </a:xfrm>
          <a:prstGeom prst="rect">
            <a:avLst/>
          </a:prstGeom>
        </p:spPr>
        <p:txBody>
          <a:bodyPr lIns="0" tIns="0" rIns="0" bIns="0" rtlCol="0" anchor="t">
            <a:spAutoFit/>
          </a:bodyPr>
          <a:lstStyle/>
          <a:p>
            <a:pPr algn="ctr">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Project Guide:</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0" lvl="0" indent="0" algn="ctr">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Prof. R. D. D. V. Sivaram Sir</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8" name="TextBox 28"/>
          <p:cNvSpPr txBox="1"/>
          <p:nvPr/>
        </p:nvSpPr>
        <p:spPr>
          <a:xfrm>
            <a:off x="6515242" y="4626828"/>
            <a:ext cx="12342895" cy="4631472"/>
          </a:xfrm>
          <a:prstGeom prst="rect">
            <a:avLst/>
          </a:prstGeom>
        </p:spPr>
        <p:txBody>
          <a:bodyPr lIns="0" tIns="0" rIns="0" bIns="0" rtlCol="0" anchor="t">
            <a:spAutoFit/>
          </a:bodyPr>
          <a:lstStyle/>
          <a:p>
            <a:pPr algn="ctr">
              <a:lnSpc>
                <a:spcPts val="4070"/>
              </a:lnSpc>
            </a:pPr>
            <a:r>
              <a:rPr lang="en-US" sz="291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Team 05</a:t>
            </a:r>
            <a:endParaRPr lang="en-US" sz="291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4070"/>
              </a:lnSpc>
            </a:pPr>
            <a:r>
              <a:rPr lang="en-US" sz="291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Name                                         Roll No.</a:t>
            </a:r>
            <a:endParaRPr lang="en-US" sz="291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ctr">
              <a:lnSpc>
                <a:spcPts val="4070"/>
              </a:lnSpc>
            </a:pPr>
            <a:r>
              <a:rPr lang="en-US" sz="291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rPr>
              <a:t>M.S.N.M.S.D.PRAMOD              22VV1A0531</a:t>
            </a:r>
            <a:endPar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4070"/>
              </a:lnSpc>
            </a:pPr>
            <a:r>
              <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rPr>
              <a:t> M. DEVI AKSHAYA                   22VV1A0527</a:t>
            </a:r>
            <a:endPar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4070"/>
              </a:lnSpc>
            </a:pPr>
            <a:r>
              <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rPr>
              <a:t> Y.DHARANI                                 22VV1A0557</a:t>
            </a:r>
            <a:endPar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4070"/>
              </a:lnSpc>
            </a:pPr>
            <a:r>
              <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rPr>
              <a:t>  CH.N.S.S.SANKAR                     22VV1A0510</a:t>
            </a:r>
            <a:endParaRPr lang="en-US" sz="291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ctr">
              <a:lnSpc>
                <a:spcPts val="4070"/>
              </a:lnSpc>
            </a:pPr>
          </a:p>
          <a:p>
            <a:pPr algn="ctr">
              <a:lnSpc>
                <a:spcPts val="4070"/>
              </a:lnSpc>
            </a:pPr>
          </a:p>
          <a:p>
            <a:pPr marL="0" lvl="0" indent="0" algn="ctr">
              <a:lnSpc>
                <a:spcPts val="4070"/>
              </a:lnSpc>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4129929" y="1057275"/>
            <a:ext cx="9411041" cy="853843"/>
          </a:xfrm>
          <a:prstGeom prst="rect">
            <a:avLst/>
          </a:prstGeom>
        </p:spPr>
        <p:txBody>
          <a:bodyPr lIns="0" tIns="0" rIns="0" bIns="0" rtlCol="0" anchor="t">
            <a:spAutoFit/>
          </a:bodyPr>
          <a:lstStyle/>
          <a:p>
            <a:pPr marL="0" lvl="0" indent="0" algn="ctr">
              <a:lnSpc>
                <a:spcPts val="6615"/>
              </a:lnSpc>
            </a:pPr>
            <a:r>
              <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OUTLINE</a:t>
            </a:r>
            <a:endPar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566261" y="2149243"/>
            <a:ext cx="16053859" cy="6102994"/>
          </a:xfrm>
          <a:prstGeom prst="rect">
            <a:avLst/>
          </a:prstGeom>
        </p:spPr>
        <p:txBody>
          <a:bodyPr lIns="0" tIns="0" rIns="0" bIns="0" rtlCol="0" anchor="t">
            <a:spAutoFit/>
          </a:bodyPr>
          <a:lstStyle/>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INTRODUCTION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EXISTING MODEL</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LIMITATIONS (EXISTING MODEL)</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LITERATURE SURVEY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PROBLEM STATEMENT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PROPOSED SYSTEM</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SYSTEM FLOW</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TECHNOLOGIES USED</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RESULTS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CONCLUSION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581116" y="1193674"/>
            <a:ext cx="9411041" cy="853843"/>
          </a:xfrm>
          <a:prstGeom prst="rect">
            <a:avLst/>
          </a:prstGeom>
        </p:spPr>
        <p:txBody>
          <a:bodyPr lIns="0" tIns="0" rIns="0" bIns="0" rtlCol="0" anchor="t">
            <a:spAutoFit/>
          </a:bodyPr>
          <a:lstStyle/>
          <a:p>
            <a:pPr marL="0" lvl="0" indent="0" algn="ctr">
              <a:lnSpc>
                <a:spcPts val="6615"/>
              </a:lnSpc>
            </a:pPr>
            <a:r>
              <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INTRODUCTION</a:t>
            </a:r>
            <a:endPar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733291" y="2476500"/>
            <a:ext cx="16053859" cy="6102994"/>
          </a:xfrm>
          <a:prstGeom prst="rect">
            <a:avLst/>
          </a:prstGeom>
        </p:spPr>
        <p:txBody>
          <a:bodyPr lIns="0" tIns="0" rIns="0" bIns="0" rtlCol="0" anchor="t">
            <a:spAutoFit/>
          </a:bodyPr>
          <a:lstStyle/>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Lawgorithm is an AI-based legal support system that helps police officers and legal professionals handle criminal cases more efficiently. It can automatically prepare important legal documents such as FIRs, investigation questions, charge sheets, and verdict predictions using plain-text case details.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system reads and understands case descriptions written in everyday language and converts them into proper legal documents that follow Indian laws. By doing this, Lawgorithm reduces paperwork, saves time, ensures uniformity, and helps speed up legal procedures.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grpSp>
        <p:nvGrpSpPr>
          <p:cNvPr id="12" name="Group 12"/>
          <p:cNvGrpSpPr/>
          <p:nvPr/>
        </p:nvGrpSpPr>
        <p:grpSpPr>
          <a:xfrm rot="0">
            <a:off x="851452" y="340164"/>
            <a:ext cx="705284" cy="354496"/>
            <a:chOff x="0" y="0"/>
            <a:chExt cx="940378" cy="472661"/>
          </a:xfrm>
        </p:grpSpPr>
        <p:grpSp>
          <p:nvGrpSpPr>
            <p:cNvPr id="13" name="Group 13"/>
            <p:cNvGrpSpPr/>
            <p:nvPr/>
          </p:nvGrpSpPr>
          <p:grpSpPr>
            <a:xfrm rot="0">
              <a:off x="625271" y="78777"/>
              <a:ext cx="315107" cy="31510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6" name="Group 16"/>
            <p:cNvGrpSpPr/>
            <p:nvPr/>
          </p:nvGrpSpPr>
          <p:grpSpPr>
            <a:xfrm rot="0">
              <a:off x="0" y="0"/>
              <a:ext cx="472661" cy="4726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9" name="Group 19"/>
          <p:cNvGrpSpPr/>
          <p:nvPr/>
        </p:nvGrpSpPr>
        <p:grpSpPr>
          <a:xfrm rot="5400000">
            <a:off x="144319" y="1076419"/>
            <a:ext cx="705284" cy="354496"/>
            <a:chOff x="0" y="0"/>
            <a:chExt cx="940378" cy="472661"/>
          </a:xfrm>
        </p:grpSpPr>
        <p:grpSp>
          <p:nvGrpSpPr>
            <p:cNvPr id="20" name="Group 20"/>
            <p:cNvGrpSpPr/>
            <p:nvPr/>
          </p:nvGrpSpPr>
          <p:grpSpPr>
            <a:xfrm rot="0">
              <a:off x="625271" y="78777"/>
              <a:ext cx="315107" cy="31510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3" name="Group 23"/>
            <p:cNvGrpSpPr/>
            <p:nvPr/>
          </p:nvGrpSpPr>
          <p:grpSpPr>
            <a:xfrm rot="0">
              <a:off x="0" y="0"/>
              <a:ext cx="472661" cy="47266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6" name="Freeform 26"/>
          <p:cNvSpPr/>
          <p:nvPr/>
        </p:nvSpPr>
        <p:spPr>
          <a:xfrm>
            <a:off x="5053474" y="1851576"/>
            <a:ext cx="7114095" cy="8435424"/>
          </a:xfrm>
          <a:custGeom>
            <a:avLst/>
            <a:gdLst/>
            <a:ahLst/>
            <a:cxnLst/>
            <a:rect l="l" t="t" r="r" b="b"/>
            <a:pathLst>
              <a:path w="7114095" h="8435424">
                <a:moveTo>
                  <a:pt x="0" y="0"/>
                </a:moveTo>
                <a:lnTo>
                  <a:pt x="7114095" y="0"/>
                </a:lnTo>
                <a:lnTo>
                  <a:pt x="7114095" y="8435424"/>
                </a:lnTo>
                <a:lnTo>
                  <a:pt x="0" y="8435424"/>
                </a:lnTo>
                <a:lnTo>
                  <a:pt x="0" y="0"/>
                </a:lnTo>
                <a:close/>
              </a:path>
            </a:pathLst>
          </a:custGeom>
          <a:blipFill>
            <a:blip r:embed="rId1"/>
            <a:stretch>
              <a:fillRect t="-971" b="-25611"/>
            </a:stretch>
          </a:blipFill>
        </p:spPr>
      </p:sp>
      <p:sp>
        <p:nvSpPr>
          <p:cNvPr id="27" name="TextBox 27"/>
          <p:cNvSpPr txBox="1"/>
          <p:nvPr/>
        </p:nvSpPr>
        <p:spPr>
          <a:xfrm>
            <a:off x="4129929" y="1057275"/>
            <a:ext cx="9411041" cy="853843"/>
          </a:xfrm>
          <a:prstGeom prst="rect">
            <a:avLst/>
          </a:prstGeom>
        </p:spPr>
        <p:txBody>
          <a:bodyPr lIns="0" tIns="0" rIns="0" bIns="0" rtlCol="0" anchor="t">
            <a:spAutoFit/>
          </a:bodyPr>
          <a:lstStyle/>
          <a:p>
            <a:pPr marL="0" lvl="0" indent="0" algn="ctr">
              <a:lnSpc>
                <a:spcPts val="6615"/>
              </a:lnSpc>
            </a:pPr>
            <a:r>
              <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EXISTING MODEL</a:t>
            </a:r>
            <a:endParaRPr lang="en-US" sz="58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174720" y="1057275"/>
            <a:ext cx="10581486"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LIMITATIONS(EXISTING MODEL)</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310216" y="2476500"/>
            <a:ext cx="16053859" cy="3743325"/>
          </a:xfrm>
          <a:prstGeom prst="rect">
            <a:avLst/>
          </a:prstGeom>
        </p:spPr>
        <p:txBody>
          <a:bodyPr lIns="0" tIns="0" rIns="0" bIns="0" rtlCol="0" anchor="t">
            <a:spAutoFit/>
          </a:bodyPr>
          <a:lstStyle/>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Manual Documentation:</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This can lead to human errors, missing information, or document damage.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Slow Investigation Process: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Paperwork takes significant time.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Risk of Data Manipulation:</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Physical records can be tampered with, lost, or altered.</a:t>
            </a: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LITERATURE SURVEY (PAPER 1)</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556736" y="2476500"/>
            <a:ext cx="16053859" cy="6102994"/>
          </a:xfrm>
          <a:prstGeom prst="rect">
            <a:avLst/>
          </a:prstGeom>
        </p:spPr>
        <p:txBody>
          <a:bodyPr lIns="0" tIns="0" rIns="0" bIns="0" rtlCol="0" anchor="t">
            <a:spAutoFit/>
          </a:bodyPr>
          <a:lstStyle/>
          <a:p>
            <a:pPr algn="l">
              <a:lnSpc>
                <a:spcPts val="4865"/>
              </a:lnSpc>
            </a:p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Title</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Explainable AI and Law: An Evidential Survey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Authors</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Multiple authors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Publication Medium</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Springer – AI and Ethics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Publication Date</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2023</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Methodology</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Surveys explainable AI (XAI) techniques applied to legal reasoning</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Categorizes legal AI systems based on task complexity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Emphasizes interpretability over pure prediction accuracy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LITERATURE SURVEY (PAPER 1)</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205441" y="2259289"/>
            <a:ext cx="16053859" cy="48837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Key Ins</a:t>
            </a: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ights: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Legal AI systems must justify decisions transparently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Rule-based and reasoning-oriented models are preferred in legal domains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Black-box models reduce trust in judicial settings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Relevance to Lawgorithm:</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Lawgorithm follows a first-principles statutory reasoning approach, ensuring explainability in verdict prediction and legal document generation.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LITERATURE SURVEY (PAPER 2)</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205441" y="2809875"/>
            <a:ext cx="16053859" cy="73221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Title: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Sentence-Transformers with MiniLM for Semantic Text Embeddings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Model: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all-MiniLM-L6-v2</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Authors: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Nils Reimers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Iryna Gurevych</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Wenhui Wang</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Furu Wei</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Publication Medium:</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Association for Computatio</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nal Linguistics (NLP research publications)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Released via Sentence-Transformers and hosted on Hugging Face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Publication Date: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2021</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LITERATURE SURVEY (PAPER 2)</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310216" y="2476500"/>
            <a:ext cx="16053859" cy="61029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Methodology:</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U</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ses the MiniLM transformer within Sentence-Transformers.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Converts sentences into 384-dimensional embeddings.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Trained with contrastive learning for s</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emantic similarity tasks.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Key Insights: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Lightweight model with strong semantic search performance.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Enables fast similarity comparison using vector embeddings.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Relevance to Lawgorithm:</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Can encode legal texts for the semantic retrieval of relevant statutes.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PROBLEM STATEMENT</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310216" y="2476500"/>
            <a:ext cx="16053859" cy="4274194"/>
          </a:xfrm>
          <a:prstGeom prst="rect">
            <a:avLst/>
          </a:prstGeom>
        </p:spPr>
        <p:txBody>
          <a:bodyPr lIns="0" tIns="0" rIns="0" bIns="0" rtlCol="0" anchor="t">
            <a:spAutoFit/>
          </a:bodyPr>
          <a:lstStyle/>
          <a:p>
            <a:pPr algn="l">
              <a:lnSpc>
                <a:spcPts val="4865"/>
              </a:lnSpc>
            </a:p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traditional legal workflow involves extensive manual documentation and subjective interpretation, leading to inefficiencies, delays,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and inconsistency. There is a need for an AI-based system that can accurately convert case narratives into legally structured outputs and generate the verdict using previous proceedings while maintaining transparency, unbiased, and fairness.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40610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TECHNOLOGIES USED</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310216" y="2809875"/>
            <a:ext cx="16053859" cy="3664594"/>
          </a:xfrm>
          <a:prstGeom prst="rect">
            <a:avLst/>
          </a:prstGeom>
        </p:spPr>
        <p:txBody>
          <a:bodyPr lIns="0" tIns="0" rIns="0" bIns="0" rtlCol="0" anchor="t">
            <a:spAutoFit/>
          </a:bodyPr>
          <a:lstStyle/>
          <a:p>
            <a:pPr algn="l">
              <a:lnSpc>
                <a:spcPts val="4865"/>
              </a:lnSpc>
            </a:p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Frontend: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React, Vite, Tailwind CSS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Back</a:t>
            </a: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end:</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FastAPI (Python), Semi-Agentic AI, Semantic Expansion </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LLM Model:</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LLaMA 3.3 70B</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Sentence Bert: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all MiniLM</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 Handling:</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 JSON-based structured outputs converted into vectors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025547" y="625972"/>
            <a:ext cx="13362587"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DATA SET OVERVIEW-LEGAL SECTIONS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556736" y="1796056"/>
            <a:ext cx="16053859" cy="67125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Dataset Contents: IPC, CrPC, CPC, MVA, HMA, IMA, IEA, NIA</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Each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record in the dataset includes: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Section Number (e.g., IPC 378)</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Section Title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Legal Definition / Description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Dataset Format:</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Stored in JSON </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Easily se</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archabl</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 and machine-readable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Purpose of the Dataset:</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Converts the dataset into vectors for semantic search while the case details are given for the FIR generation phase.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1784616" y="782318"/>
            <a:ext cx="15579459"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DATA SET OVERVIEW-PREVIOUS PROCEEDINGS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348111" y="1720528"/>
            <a:ext cx="16053859" cy="67125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Dataset Contents: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data set contains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Facts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Sections applied</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Verdict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Dataset Format:</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Stored in JSON </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Easily se</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archabl</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 and machine-readable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Purpose of the Dataset:</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Converted into vectors for RAG usage for finding the relevant verdicts for the case, while generating the verdicts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851452" y="2648420"/>
            <a:ext cx="5037237" cy="4990160"/>
          </a:xfrm>
          <a:custGeom>
            <a:avLst/>
            <a:gdLst/>
            <a:ahLst/>
            <a:cxnLst/>
            <a:rect l="l" t="t" r="r" b="b"/>
            <a:pathLst>
              <a:path w="5037237" h="4990160">
                <a:moveTo>
                  <a:pt x="0" y="0"/>
                </a:moveTo>
                <a:lnTo>
                  <a:pt x="5037237" y="0"/>
                </a:lnTo>
                <a:lnTo>
                  <a:pt x="5037237" y="4990160"/>
                </a:lnTo>
                <a:lnTo>
                  <a:pt x="0" y="4990160"/>
                </a:lnTo>
                <a:lnTo>
                  <a:pt x="0" y="0"/>
                </a:lnTo>
                <a:close/>
              </a:path>
            </a:pathLst>
          </a:custGeom>
          <a:blipFill>
            <a:blip r:embed="rId1"/>
            <a:stretch>
              <a:fillRect/>
            </a:stretch>
          </a:blipFill>
        </p:spPr>
      </p:sp>
      <p:sp>
        <p:nvSpPr>
          <p:cNvPr id="21" name="TextBox 21"/>
          <p:cNvSpPr txBox="1"/>
          <p:nvPr/>
        </p:nvSpPr>
        <p:spPr>
          <a:xfrm>
            <a:off x="2597782" y="1264227"/>
            <a:ext cx="12658555" cy="712738"/>
          </a:xfrm>
          <a:prstGeom prst="rect">
            <a:avLst/>
          </a:prstGeom>
        </p:spPr>
        <p:txBody>
          <a:bodyPr lIns="0" tIns="0" rIns="0" bIns="0" rtlCol="0" anchor="t">
            <a:spAutoFit/>
          </a:bodyPr>
          <a:lstStyle/>
          <a:p>
            <a:pPr marL="0" lvl="0" indent="0" algn="ctr">
              <a:lnSpc>
                <a:spcPts val="5585"/>
              </a:lnSpc>
            </a:pPr>
            <a:r>
              <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CHROMA DB</a:t>
            </a:r>
            <a:endPar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22" name="TextBox 22"/>
          <p:cNvSpPr txBox="1"/>
          <p:nvPr/>
        </p:nvSpPr>
        <p:spPr>
          <a:xfrm>
            <a:off x="5793439" y="2126176"/>
            <a:ext cx="11703070" cy="6635115"/>
          </a:xfrm>
          <a:prstGeom prst="rect">
            <a:avLst/>
          </a:prstGeom>
        </p:spPr>
        <p:txBody>
          <a:bodyPr lIns="0" tIns="0" rIns="0" bIns="0" rtlCol="0" anchor="t">
            <a:spAutoFit/>
          </a:bodyPr>
          <a:lstStyle/>
          <a:p>
            <a:pPr marL="680085" lvl="1" indent="-339725" algn="l">
              <a:lnSpc>
                <a:spcPts val="4410"/>
              </a:lnSpc>
              <a:buFont typeface="Arial" panose="020B0604020202020204"/>
              <a:buChar char="•"/>
            </a:pPr>
            <a:r>
              <a:rPr lang="en-US" sz="3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Collection</a:t>
            </a:r>
            <a:r>
              <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rPr>
              <a:t>: A container in Chroma that stores related documents, embeddings, IDs, and metadata together.</a:t>
            </a:r>
            <a:endPar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0085" lvl="1" indent="-339725" algn="l">
              <a:lnSpc>
                <a:spcPts val="4410"/>
              </a:lnSpc>
              <a:buFont typeface="Arial" panose="020B0604020202020204"/>
              <a:buChar char="•"/>
            </a:pPr>
            <a:r>
              <a:rPr lang="en-US" sz="3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Document</a:t>
            </a:r>
            <a:r>
              <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rPr>
              <a:t>: The actual text data (like a sentence or paragraph) stored in the collection and converted into vector embeddings for search.</a:t>
            </a:r>
            <a:endPar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0085" lvl="1" indent="-339725" algn="l">
              <a:lnSpc>
                <a:spcPts val="4410"/>
              </a:lnSpc>
              <a:buFont typeface="Arial" panose="020B0604020202020204"/>
              <a:buChar char="•"/>
            </a:pPr>
            <a:r>
              <a:rPr lang="en-US" sz="3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ID</a:t>
            </a:r>
            <a:r>
              <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rPr>
              <a:t>: A unique string identifier assigned to each document so it can be retrieved, updated, or deleted.</a:t>
            </a:r>
            <a:endPar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0085" lvl="1" indent="-339725" algn="l">
              <a:lnSpc>
                <a:spcPts val="4410"/>
              </a:lnSpc>
              <a:buFont typeface="Arial" panose="020B0604020202020204"/>
              <a:buChar char="•"/>
            </a:pPr>
            <a:r>
              <a:rPr lang="en-US" sz="3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Embedding</a:t>
            </a:r>
            <a:r>
              <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rPr>
              <a:t>: A vector (list of numbers) that represents the meaning of a piece of text so a computer can compare it with other texts for similarity.</a:t>
            </a:r>
            <a:endPar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80085" lvl="1" indent="-339725" algn="l">
              <a:lnSpc>
                <a:spcPts val="4410"/>
              </a:lnSpc>
              <a:buFont typeface="Arial" panose="020B0604020202020204"/>
              <a:buChar char="•"/>
            </a:pPr>
            <a:r>
              <a:rPr lang="en-US" sz="3150"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Metadata</a:t>
            </a:r>
            <a:r>
              <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rPr>
              <a:t>: Additional information about a document (e.g., topic, source, author) used to filter or organize search results.</a:t>
            </a:r>
            <a:endParaRPr lang="en-US" sz="315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1927293" y="391060"/>
            <a:ext cx="15468173" cy="10305671"/>
          </a:xfrm>
          <a:custGeom>
            <a:avLst/>
            <a:gdLst/>
            <a:ahLst/>
            <a:cxnLst/>
            <a:rect l="l" t="t" r="r" b="b"/>
            <a:pathLst>
              <a:path w="15468173" h="10305671">
                <a:moveTo>
                  <a:pt x="0" y="0"/>
                </a:moveTo>
                <a:lnTo>
                  <a:pt x="15468174" y="0"/>
                </a:lnTo>
                <a:lnTo>
                  <a:pt x="15468174" y="10305671"/>
                </a:lnTo>
                <a:lnTo>
                  <a:pt x="0" y="10305671"/>
                </a:lnTo>
                <a:lnTo>
                  <a:pt x="0" y="0"/>
                </a:lnTo>
                <a:close/>
              </a:path>
            </a:pathLst>
          </a:custGeom>
          <a:blipFill>
            <a:blip r:embed="rId1"/>
            <a:stretch>
              <a:fillRect/>
            </a:stretch>
          </a:blipFill>
        </p:spPr>
      </p:sp>
      <p:sp>
        <p:nvSpPr>
          <p:cNvPr id="21" name="TextBox 21"/>
          <p:cNvSpPr txBox="1"/>
          <p:nvPr/>
        </p:nvSpPr>
        <p:spPr>
          <a:xfrm>
            <a:off x="3671703" y="419635"/>
            <a:ext cx="10944594"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PROPOSED SYSTEM AND FLOW</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TextBox 20"/>
          <p:cNvSpPr txBox="1"/>
          <p:nvPr/>
        </p:nvSpPr>
        <p:spPr>
          <a:xfrm>
            <a:off x="2597782" y="1264227"/>
            <a:ext cx="12658555" cy="712738"/>
          </a:xfrm>
          <a:prstGeom prst="rect">
            <a:avLst/>
          </a:prstGeom>
        </p:spPr>
        <p:txBody>
          <a:bodyPr lIns="0" tIns="0" rIns="0" bIns="0" rtlCol="0" anchor="t">
            <a:spAutoFit/>
          </a:bodyPr>
          <a:lstStyle/>
          <a:p>
            <a:pPr marL="0" lvl="0" indent="0" algn="ctr">
              <a:lnSpc>
                <a:spcPts val="5585"/>
              </a:lnSpc>
            </a:pPr>
            <a:r>
              <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METHODOLGY</a:t>
            </a:r>
            <a:endPar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grpSp>
        <p:nvGrpSpPr>
          <p:cNvPr id="21" name="Group 21"/>
          <p:cNvGrpSpPr/>
          <p:nvPr/>
        </p:nvGrpSpPr>
        <p:grpSpPr>
          <a:xfrm rot="0">
            <a:off x="1219851" y="2860125"/>
            <a:ext cx="15414418" cy="1879461"/>
            <a:chOff x="0" y="0"/>
            <a:chExt cx="20552557" cy="2505948"/>
          </a:xfrm>
        </p:grpSpPr>
        <p:grpSp>
          <p:nvGrpSpPr>
            <p:cNvPr id="22" name="Group 22"/>
            <p:cNvGrpSpPr/>
            <p:nvPr/>
          </p:nvGrpSpPr>
          <p:grpSpPr>
            <a:xfrm rot="0">
              <a:off x="16437757" y="0"/>
              <a:ext cx="4114800" cy="2505948"/>
              <a:chOff x="0" y="0"/>
              <a:chExt cx="812800" cy="495002"/>
            </a:xfrm>
          </p:grpSpPr>
          <p:sp>
            <p:nvSpPr>
              <p:cNvPr id="23" name="Freeform 23"/>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24" name="TextBox 24"/>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10788809" y="0"/>
              <a:ext cx="4114800" cy="2505948"/>
              <a:chOff x="0" y="0"/>
              <a:chExt cx="812800" cy="495002"/>
            </a:xfrm>
          </p:grpSpPr>
          <p:sp>
            <p:nvSpPr>
              <p:cNvPr id="26" name="Freeform 26"/>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27" name="TextBox 27"/>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28" name="Group 28"/>
            <p:cNvGrpSpPr/>
            <p:nvPr/>
          </p:nvGrpSpPr>
          <p:grpSpPr>
            <a:xfrm rot="0">
              <a:off x="5391309" y="0"/>
              <a:ext cx="4114800" cy="2505948"/>
              <a:chOff x="0" y="0"/>
              <a:chExt cx="812800" cy="495002"/>
            </a:xfrm>
          </p:grpSpPr>
          <p:sp>
            <p:nvSpPr>
              <p:cNvPr id="29" name="Freeform 29"/>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30" name="TextBox 30"/>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31" name="Group 31"/>
            <p:cNvGrpSpPr/>
            <p:nvPr/>
          </p:nvGrpSpPr>
          <p:grpSpPr>
            <a:xfrm rot="0">
              <a:off x="0" y="0"/>
              <a:ext cx="4114800" cy="2505948"/>
              <a:chOff x="0" y="0"/>
              <a:chExt cx="812800" cy="495002"/>
            </a:xfrm>
          </p:grpSpPr>
          <p:sp>
            <p:nvSpPr>
              <p:cNvPr id="32" name="Freeform 32"/>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33" name="TextBox 33"/>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34" name="TextBox 34"/>
            <p:cNvSpPr txBox="1"/>
            <p:nvPr/>
          </p:nvSpPr>
          <p:spPr>
            <a:xfrm>
              <a:off x="470189" y="527380"/>
              <a:ext cx="3215212" cy="1394038"/>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Data Collection</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5" name="TextBox 35"/>
            <p:cNvSpPr txBox="1"/>
            <p:nvPr/>
          </p:nvSpPr>
          <p:spPr>
            <a:xfrm>
              <a:off x="5518309" y="461086"/>
              <a:ext cx="3860800"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Data Preprocessing</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6" name="TextBox 36"/>
            <p:cNvSpPr txBox="1"/>
            <p:nvPr/>
          </p:nvSpPr>
          <p:spPr>
            <a:xfrm>
              <a:off x="11292606" y="461086"/>
              <a:ext cx="3107206"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Vector Conversion</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7" name="TextBox 37"/>
            <p:cNvSpPr txBox="1"/>
            <p:nvPr/>
          </p:nvSpPr>
          <p:spPr>
            <a:xfrm>
              <a:off x="17323464" y="496393"/>
              <a:ext cx="2343386"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Vector Storage</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8" name="AutoShape 38"/>
            <p:cNvSpPr/>
            <p:nvPr/>
          </p:nvSpPr>
          <p:spPr>
            <a:xfrm>
              <a:off x="2632696" y="1306491"/>
              <a:ext cx="2758613" cy="0"/>
            </a:xfrm>
            <a:prstGeom prst="line">
              <a:avLst/>
            </a:prstGeom>
            <a:ln w="50800" cap="flat">
              <a:solidFill>
                <a:srgbClr val="BBC8B1"/>
              </a:solidFill>
              <a:prstDash val="solid"/>
              <a:headEnd type="none" w="sm" len="sm"/>
              <a:tailEnd type="triangle" w="lg" len="med"/>
            </a:ln>
          </p:spPr>
        </p:sp>
        <p:sp>
          <p:nvSpPr>
            <p:cNvPr id="39" name="AutoShape 39"/>
            <p:cNvSpPr/>
            <p:nvPr/>
          </p:nvSpPr>
          <p:spPr>
            <a:xfrm>
              <a:off x="8026093" y="1227574"/>
              <a:ext cx="2758613" cy="0"/>
            </a:xfrm>
            <a:prstGeom prst="line">
              <a:avLst/>
            </a:prstGeom>
            <a:ln w="50800" cap="flat">
              <a:solidFill>
                <a:srgbClr val="BBC8B1"/>
              </a:solidFill>
              <a:prstDash val="solid"/>
              <a:headEnd type="none" w="sm" len="sm"/>
              <a:tailEnd type="triangle" w="lg" len="med"/>
            </a:ln>
          </p:spPr>
        </p:sp>
        <p:sp>
          <p:nvSpPr>
            <p:cNvPr id="40" name="AutoShape 40"/>
            <p:cNvSpPr/>
            <p:nvPr/>
          </p:nvSpPr>
          <p:spPr>
            <a:xfrm>
              <a:off x="13679144" y="1202174"/>
              <a:ext cx="2758613" cy="0"/>
            </a:xfrm>
            <a:prstGeom prst="line">
              <a:avLst/>
            </a:prstGeom>
            <a:ln w="50800" cap="flat">
              <a:solidFill>
                <a:srgbClr val="BBC8B1"/>
              </a:solidFill>
              <a:prstDash val="solid"/>
              <a:headEnd type="none" w="sm" len="sm"/>
              <a:tailEnd type="triangle" w="lg" len="med"/>
            </a:ln>
          </p:spPr>
        </p:sp>
      </p:grpSp>
      <p:grpSp>
        <p:nvGrpSpPr>
          <p:cNvPr id="41" name="Group 41"/>
          <p:cNvGrpSpPr/>
          <p:nvPr/>
        </p:nvGrpSpPr>
        <p:grpSpPr>
          <a:xfrm rot="0">
            <a:off x="1204094" y="5832287"/>
            <a:ext cx="15414418" cy="1879461"/>
            <a:chOff x="0" y="0"/>
            <a:chExt cx="20552557" cy="2505948"/>
          </a:xfrm>
        </p:grpSpPr>
        <p:grpSp>
          <p:nvGrpSpPr>
            <p:cNvPr id="42" name="Group 42"/>
            <p:cNvGrpSpPr/>
            <p:nvPr/>
          </p:nvGrpSpPr>
          <p:grpSpPr>
            <a:xfrm rot="0">
              <a:off x="16437757" y="0"/>
              <a:ext cx="4114800" cy="2505948"/>
              <a:chOff x="0" y="0"/>
              <a:chExt cx="812800" cy="495002"/>
            </a:xfrm>
          </p:grpSpPr>
          <p:sp>
            <p:nvSpPr>
              <p:cNvPr id="43" name="Freeform 43"/>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44" name="TextBox 44"/>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45" name="Group 45"/>
            <p:cNvGrpSpPr/>
            <p:nvPr/>
          </p:nvGrpSpPr>
          <p:grpSpPr>
            <a:xfrm rot="0">
              <a:off x="10788809" y="0"/>
              <a:ext cx="4114800" cy="2505948"/>
              <a:chOff x="0" y="0"/>
              <a:chExt cx="812800" cy="495002"/>
            </a:xfrm>
          </p:grpSpPr>
          <p:sp>
            <p:nvSpPr>
              <p:cNvPr id="46" name="Freeform 46"/>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47" name="TextBox 47"/>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48" name="Group 48"/>
            <p:cNvGrpSpPr/>
            <p:nvPr/>
          </p:nvGrpSpPr>
          <p:grpSpPr>
            <a:xfrm rot="0">
              <a:off x="5391309" y="0"/>
              <a:ext cx="4114800" cy="2505948"/>
              <a:chOff x="0" y="0"/>
              <a:chExt cx="812800" cy="495002"/>
            </a:xfrm>
          </p:grpSpPr>
          <p:sp>
            <p:nvSpPr>
              <p:cNvPr id="49" name="Freeform 49"/>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50" name="TextBox 50"/>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51" name="Group 51"/>
            <p:cNvGrpSpPr/>
            <p:nvPr/>
          </p:nvGrpSpPr>
          <p:grpSpPr>
            <a:xfrm rot="0">
              <a:off x="0" y="0"/>
              <a:ext cx="4114800" cy="2505948"/>
              <a:chOff x="0" y="0"/>
              <a:chExt cx="812800" cy="495002"/>
            </a:xfrm>
          </p:grpSpPr>
          <p:sp>
            <p:nvSpPr>
              <p:cNvPr id="52" name="Freeform 52"/>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53" name="TextBox 53"/>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54" name="TextBox 54"/>
            <p:cNvSpPr txBox="1"/>
            <p:nvPr/>
          </p:nvSpPr>
          <p:spPr>
            <a:xfrm>
              <a:off x="470189" y="527380"/>
              <a:ext cx="3215212" cy="1394038"/>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FIR </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Generation</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5" name="TextBox 55"/>
            <p:cNvSpPr txBox="1"/>
            <p:nvPr/>
          </p:nvSpPr>
          <p:spPr>
            <a:xfrm>
              <a:off x="5518309" y="461086"/>
              <a:ext cx="3860800"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Questionaire &amp;</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Summary</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6" name="TextBox 56"/>
            <p:cNvSpPr txBox="1"/>
            <p:nvPr/>
          </p:nvSpPr>
          <p:spPr>
            <a:xfrm>
              <a:off x="11040707" y="527380"/>
              <a:ext cx="3611003"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ChargeSheet generation</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7" name="TextBox 57"/>
            <p:cNvSpPr txBox="1"/>
            <p:nvPr/>
          </p:nvSpPr>
          <p:spPr>
            <a:xfrm>
              <a:off x="17121601" y="496393"/>
              <a:ext cx="2747111" cy="1425025"/>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Verdict</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Prediction</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8" name="AutoShape 58"/>
            <p:cNvSpPr/>
            <p:nvPr/>
          </p:nvSpPr>
          <p:spPr>
            <a:xfrm>
              <a:off x="2632696" y="1306491"/>
              <a:ext cx="2758613" cy="0"/>
            </a:xfrm>
            <a:prstGeom prst="line">
              <a:avLst/>
            </a:prstGeom>
            <a:ln w="50800" cap="flat">
              <a:solidFill>
                <a:srgbClr val="BBC8B1"/>
              </a:solidFill>
              <a:prstDash val="solid"/>
              <a:headEnd type="none" w="sm" len="sm"/>
              <a:tailEnd type="triangle" w="lg" len="med"/>
            </a:ln>
          </p:spPr>
        </p:sp>
        <p:sp>
          <p:nvSpPr>
            <p:cNvPr id="59" name="AutoShape 59"/>
            <p:cNvSpPr/>
            <p:nvPr/>
          </p:nvSpPr>
          <p:spPr>
            <a:xfrm>
              <a:off x="8026093" y="1227574"/>
              <a:ext cx="2758613" cy="0"/>
            </a:xfrm>
            <a:prstGeom prst="line">
              <a:avLst/>
            </a:prstGeom>
            <a:ln w="50800" cap="flat">
              <a:solidFill>
                <a:srgbClr val="BBC8B1"/>
              </a:solidFill>
              <a:prstDash val="solid"/>
              <a:headEnd type="none" w="sm" len="sm"/>
              <a:tailEnd type="triangle" w="lg" len="med"/>
            </a:ln>
          </p:spPr>
        </p:sp>
        <p:sp>
          <p:nvSpPr>
            <p:cNvPr id="60" name="AutoShape 60"/>
            <p:cNvSpPr/>
            <p:nvPr/>
          </p:nvSpPr>
          <p:spPr>
            <a:xfrm>
              <a:off x="13679144" y="1202174"/>
              <a:ext cx="2758613" cy="0"/>
            </a:xfrm>
            <a:prstGeom prst="line">
              <a:avLst/>
            </a:prstGeom>
            <a:ln w="50800" cap="flat">
              <a:solidFill>
                <a:srgbClr val="BBC8B1"/>
              </a:solidFill>
              <a:prstDash val="solid"/>
              <a:headEnd type="none" w="sm" len="sm"/>
              <a:tailEnd type="triangle" w="lg" len="med"/>
            </a:ln>
          </p:spPr>
        </p:sp>
      </p:grpSp>
      <p:sp>
        <p:nvSpPr>
          <p:cNvPr id="61" name="AutoShape 61"/>
          <p:cNvSpPr/>
          <p:nvPr/>
        </p:nvSpPr>
        <p:spPr>
          <a:xfrm flipH="1">
            <a:off x="2541009" y="4708235"/>
            <a:ext cx="12507159" cy="1124052"/>
          </a:xfrm>
          <a:prstGeom prst="line">
            <a:avLst/>
          </a:prstGeom>
          <a:ln w="38100" cap="flat">
            <a:solidFill>
              <a:srgbClr val="BBC8B1"/>
            </a:solidFill>
            <a:prstDash val="solid"/>
            <a:headEnd type="none" w="sm" len="sm"/>
            <a:tailEnd type="triangle" w="lg" len="med"/>
          </a:ln>
        </p:spPr>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TextBox 20"/>
          <p:cNvSpPr txBox="1"/>
          <p:nvPr/>
        </p:nvSpPr>
        <p:spPr>
          <a:xfrm>
            <a:off x="2597782" y="1264227"/>
            <a:ext cx="12658555" cy="712738"/>
          </a:xfrm>
          <a:prstGeom prst="rect">
            <a:avLst/>
          </a:prstGeom>
        </p:spPr>
        <p:txBody>
          <a:bodyPr lIns="0" tIns="0" rIns="0" bIns="0" rtlCol="0" anchor="t">
            <a:spAutoFit/>
          </a:bodyPr>
          <a:lstStyle/>
          <a:p>
            <a:pPr marL="0" lvl="0" indent="0" algn="ctr">
              <a:lnSpc>
                <a:spcPts val="5585"/>
              </a:lnSpc>
            </a:pPr>
            <a:r>
              <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ARCHITECTURE OF AL MINILM(SBERT)</a:t>
            </a:r>
            <a:endPar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grpSp>
        <p:nvGrpSpPr>
          <p:cNvPr id="21" name="Group 21"/>
          <p:cNvGrpSpPr/>
          <p:nvPr/>
        </p:nvGrpSpPr>
        <p:grpSpPr>
          <a:xfrm rot="0">
            <a:off x="1204094" y="2615924"/>
            <a:ext cx="15426882" cy="5411085"/>
            <a:chOff x="0" y="0"/>
            <a:chExt cx="20569176" cy="7214780"/>
          </a:xfrm>
        </p:grpSpPr>
        <p:grpSp>
          <p:nvGrpSpPr>
            <p:cNvPr id="22" name="Group 22"/>
            <p:cNvGrpSpPr/>
            <p:nvPr/>
          </p:nvGrpSpPr>
          <p:grpSpPr>
            <a:xfrm rot="0">
              <a:off x="16454376" y="0"/>
              <a:ext cx="4114800" cy="2505948"/>
              <a:chOff x="0" y="0"/>
              <a:chExt cx="812800" cy="495002"/>
            </a:xfrm>
          </p:grpSpPr>
          <p:sp>
            <p:nvSpPr>
              <p:cNvPr id="23" name="Freeform 23"/>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24" name="TextBox 24"/>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10805428" y="0"/>
              <a:ext cx="4114800" cy="2505948"/>
              <a:chOff x="0" y="0"/>
              <a:chExt cx="812800" cy="495002"/>
            </a:xfrm>
          </p:grpSpPr>
          <p:sp>
            <p:nvSpPr>
              <p:cNvPr id="26" name="Freeform 26"/>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27" name="TextBox 27"/>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28" name="Group 28"/>
            <p:cNvGrpSpPr/>
            <p:nvPr/>
          </p:nvGrpSpPr>
          <p:grpSpPr>
            <a:xfrm rot="0">
              <a:off x="5407928" y="0"/>
              <a:ext cx="4114800" cy="2505948"/>
              <a:chOff x="0" y="0"/>
              <a:chExt cx="812800" cy="495002"/>
            </a:xfrm>
          </p:grpSpPr>
          <p:sp>
            <p:nvSpPr>
              <p:cNvPr id="29" name="Freeform 29"/>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30" name="TextBox 30"/>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grpSp>
          <p:nvGrpSpPr>
            <p:cNvPr id="31" name="Group 31"/>
            <p:cNvGrpSpPr/>
            <p:nvPr/>
          </p:nvGrpSpPr>
          <p:grpSpPr>
            <a:xfrm rot="0">
              <a:off x="16619" y="0"/>
              <a:ext cx="4114800" cy="2505948"/>
              <a:chOff x="0" y="0"/>
              <a:chExt cx="812800" cy="495002"/>
            </a:xfrm>
          </p:grpSpPr>
          <p:sp>
            <p:nvSpPr>
              <p:cNvPr id="32" name="Freeform 32"/>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33" name="TextBox 33"/>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34" name="TextBox 34"/>
            <p:cNvSpPr txBox="1"/>
            <p:nvPr/>
          </p:nvSpPr>
          <p:spPr>
            <a:xfrm>
              <a:off x="486808" y="527380"/>
              <a:ext cx="3215212" cy="1394038"/>
            </a:xfrm>
            <a:prstGeom prst="rect">
              <a:avLst/>
            </a:prstGeom>
          </p:spPr>
          <p:txBody>
            <a:bodyPr lIns="0" tIns="0" rIns="0" bIns="0" rtlCol="0" anchor="t">
              <a:spAutoFit/>
            </a:bodyPr>
            <a:lstStyle/>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 Raw Text </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4355"/>
                </a:lnSpc>
              </a:pPr>
              <a:r>
                <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rPr>
                <a:t> "I love NLP”</a:t>
              </a:r>
              <a:endParaRPr lang="en-US" sz="311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5" name="TextBox 35"/>
            <p:cNvSpPr txBox="1"/>
            <p:nvPr/>
          </p:nvSpPr>
          <p:spPr>
            <a:xfrm>
              <a:off x="5499100" y="729415"/>
              <a:ext cx="3938648" cy="999493"/>
            </a:xfrm>
            <a:prstGeom prst="rect">
              <a:avLst/>
            </a:prstGeom>
          </p:spPr>
          <p:txBody>
            <a:bodyPr lIns="0" tIns="0" rIns="0" bIns="0" rtlCol="0" anchor="t">
              <a:spAutoFit/>
            </a:bodyPr>
            <a:lstStyle/>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Tokenization </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 ["I","love","N","##LP"]</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6" name="TextBox 36"/>
            <p:cNvSpPr txBox="1"/>
            <p:nvPr/>
          </p:nvSpPr>
          <p:spPr>
            <a:xfrm>
              <a:off x="10916583" y="729415"/>
              <a:ext cx="3716338" cy="999493"/>
            </a:xfrm>
            <a:prstGeom prst="rect">
              <a:avLst/>
            </a:prstGeom>
          </p:spPr>
          <p:txBody>
            <a:bodyPr lIns="0" tIns="0" rIns="0" bIns="0" rtlCol="0" anchor="t">
              <a:spAutoFit/>
            </a:bodyPr>
            <a:lstStyle/>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Token IDs</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 [1045, 2293, 1050…]</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37" name="TextBox 37"/>
            <p:cNvSpPr txBox="1"/>
            <p:nvPr/>
          </p:nvSpPr>
          <p:spPr>
            <a:xfrm>
              <a:off x="16747113" y="526215"/>
              <a:ext cx="3529326" cy="1512927"/>
            </a:xfrm>
            <a:prstGeom prst="rect">
              <a:avLst/>
            </a:prstGeom>
          </p:spPr>
          <p:txBody>
            <a:bodyPr lIns="0" tIns="0" rIns="0" bIns="0" rtlCol="0" anchor="t">
              <a:spAutoFit/>
            </a:bodyPr>
            <a:lstStyle/>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Token Embeddings </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 (Dense vectors) </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3100"/>
                </a:lnSpc>
              </a:pPr>
              <a:r>
                <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rPr>
                <a:t> 768-d each token</a:t>
              </a:r>
              <a:endParaRPr lang="en-US" sz="2215"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38" name="Group 38"/>
            <p:cNvGrpSpPr/>
            <p:nvPr/>
          </p:nvGrpSpPr>
          <p:grpSpPr>
            <a:xfrm rot="0">
              <a:off x="16378176" y="4691458"/>
              <a:ext cx="4114800" cy="2505948"/>
              <a:chOff x="0" y="0"/>
              <a:chExt cx="812800" cy="495002"/>
            </a:xfrm>
          </p:grpSpPr>
          <p:sp>
            <p:nvSpPr>
              <p:cNvPr id="39" name="Freeform 39"/>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40" name="TextBox 40"/>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41" name="TextBox 41"/>
            <p:cNvSpPr txBox="1"/>
            <p:nvPr/>
          </p:nvSpPr>
          <p:spPr>
            <a:xfrm>
              <a:off x="16825238" y="5540120"/>
              <a:ext cx="3373075" cy="780050"/>
            </a:xfrm>
            <a:prstGeom prst="rect">
              <a:avLst/>
            </a:prstGeom>
          </p:spPr>
          <p:txBody>
            <a:bodyPr lIns="0" tIns="0" rIns="0" bIns="0" rtlCol="0" anchor="t">
              <a:spAutoFit/>
            </a:bodyPr>
            <a:lstStyle/>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Positional Embeddings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(Word or</a:t>
              </a: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der info)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42" name="Group 42"/>
            <p:cNvGrpSpPr/>
            <p:nvPr/>
          </p:nvGrpSpPr>
          <p:grpSpPr>
            <a:xfrm rot="0">
              <a:off x="10805428" y="4613358"/>
              <a:ext cx="4114800" cy="2505948"/>
              <a:chOff x="0" y="0"/>
              <a:chExt cx="812800" cy="495002"/>
            </a:xfrm>
          </p:grpSpPr>
          <p:sp>
            <p:nvSpPr>
              <p:cNvPr id="43" name="Freeform 43"/>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44" name="TextBox 44"/>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45" name="TextBox 45"/>
            <p:cNvSpPr txBox="1"/>
            <p:nvPr/>
          </p:nvSpPr>
          <p:spPr>
            <a:xfrm>
              <a:off x="10801325" y="5233947"/>
              <a:ext cx="4099597" cy="1185393"/>
            </a:xfrm>
            <a:prstGeom prst="rect">
              <a:avLst/>
            </a:prstGeom>
          </p:spPr>
          <p:txBody>
            <a:bodyPr lIns="0" tIns="0" rIns="0" bIns="0" rtlCol="0" anchor="t">
              <a:spAutoFit/>
            </a:bodyPr>
            <a:lstStyle/>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 Transformer Encoder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 (Self-Attention layers)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 Cont</a:t>
              </a: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ext-aware embeddings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grpSp>
          <p:nvGrpSpPr>
            <p:cNvPr id="46" name="Group 46"/>
            <p:cNvGrpSpPr/>
            <p:nvPr/>
          </p:nvGrpSpPr>
          <p:grpSpPr>
            <a:xfrm rot="0">
              <a:off x="5499100" y="4677008"/>
              <a:ext cx="4114800" cy="2505948"/>
              <a:chOff x="0" y="0"/>
              <a:chExt cx="812800" cy="495002"/>
            </a:xfrm>
          </p:grpSpPr>
          <p:sp>
            <p:nvSpPr>
              <p:cNvPr id="47" name="Freeform 47"/>
              <p:cNvSpPr/>
              <p:nvPr/>
            </p:nvSpPr>
            <p:spPr>
              <a:xfrm>
                <a:off x="0" y="0"/>
                <a:ext cx="812800" cy="495002"/>
              </a:xfrm>
              <a:custGeom>
                <a:avLst/>
                <a:gdLst/>
                <a:ahLst/>
                <a:cxnLst/>
                <a:rect l="l" t="t" r="r" b="b"/>
                <a:pathLst>
                  <a:path w="812800" h="495002">
                    <a:moveTo>
                      <a:pt x="127941" y="0"/>
                    </a:moveTo>
                    <a:lnTo>
                      <a:pt x="684859" y="0"/>
                    </a:lnTo>
                    <a:cubicBezTo>
                      <a:pt x="718791" y="0"/>
                      <a:pt x="751333" y="13479"/>
                      <a:pt x="775327" y="37473"/>
                    </a:cubicBezTo>
                    <a:cubicBezTo>
                      <a:pt x="799321" y="61467"/>
                      <a:pt x="812800" y="94009"/>
                      <a:pt x="812800" y="127941"/>
                    </a:cubicBezTo>
                    <a:lnTo>
                      <a:pt x="812800" y="367061"/>
                    </a:lnTo>
                    <a:cubicBezTo>
                      <a:pt x="812800" y="400993"/>
                      <a:pt x="799321" y="433536"/>
                      <a:pt x="775327" y="457529"/>
                    </a:cubicBezTo>
                    <a:cubicBezTo>
                      <a:pt x="751333" y="481523"/>
                      <a:pt x="718791" y="495002"/>
                      <a:pt x="684859" y="495002"/>
                    </a:cubicBezTo>
                    <a:lnTo>
                      <a:pt x="127941" y="495002"/>
                    </a:lnTo>
                    <a:cubicBezTo>
                      <a:pt x="94009" y="495002"/>
                      <a:pt x="61467" y="481523"/>
                      <a:pt x="37473" y="457529"/>
                    </a:cubicBezTo>
                    <a:cubicBezTo>
                      <a:pt x="13479" y="433536"/>
                      <a:pt x="0" y="400993"/>
                      <a:pt x="0" y="367061"/>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48" name="TextBox 48"/>
              <p:cNvSpPr txBox="1"/>
              <p:nvPr/>
            </p:nvSpPr>
            <p:spPr>
              <a:xfrm>
                <a:off x="0" y="-47625"/>
                <a:ext cx="812800" cy="542627"/>
              </a:xfrm>
              <a:prstGeom prst="rect">
                <a:avLst/>
              </a:prstGeom>
            </p:spPr>
            <p:txBody>
              <a:bodyPr lIns="50800" tIns="50800" rIns="50800" bIns="50800" rtlCol="0" anchor="ctr"/>
              <a:lstStyle/>
              <a:p>
                <a:pPr algn="ctr">
                  <a:lnSpc>
                    <a:spcPts val="3010"/>
                  </a:lnSpc>
                </a:pPr>
              </a:p>
            </p:txBody>
          </p:sp>
        </p:grpSp>
        <p:sp>
          <p:nvSpPr>
            <p:cNvPr id="49" name="TextBox 49"/>
            <p:cNvSpPr txBox="1"/>
            <p:nvPr/>
          </p:nvSpPr>
          <p:spPr>
            <a:xfrm>
              <a:off x="5682563" y="5074050"/>
              <a:ext cx="3783345" cy="1590737"/>
            </a:xfrm>
            <a:prstGeom prst="rect">
              <a:avLst/>
            </a:prstGeom>
          </p:spPr>
          <p:txBody>
            <a:bodyPr lIns="0" tIns="0" rIns="0" bIns="0" rtlCol="0" anchor="t">
              <a:spAutoFit/>
            </a:bodyPr>
            <a:lstStyle/>
            <a:p>
              <a:pPr algn="ctr">
                <a:lnSpc>
                  <a:spcPts val="2445"/>
                </a:lnSpc>
              </a:pPr>
            </a:p>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 Pooling Layer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445"/>
                </a:lnSpc>
              </a:pP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 M</a:t>
              </a:r>
              <a:r>
                <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rPr>
                <a:t>ean / CLS / Max pooling </a:t>
              </a:r>
              <a:endParaRPr lang="en-US" sz="175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445"/>
                </a:lnSpc>
              </a:pPr>
            </a:p>
          </p:txBody>
        </p:sp>
        <p:grpSp>
          <p:nvGrpSpPr>
            <p:cNvPr id="50" name="Group 50"/>
            <p:cNvGrpSpPr/>
            <p:nvPr/>
          </p:nvGrpSpPr>
          <p:grpSpPr>
            <a:xfrm rot="0">
              <a:off x="0" y="4645183"/>
              <a:ext cx="4114800" cy="2569597"/>
              <a:chOff x="0" y="0"/>
              <a:chExt cx="812800" cy="507575"/>
            </a:xfrm>
          </p:grpSpPr>
          <p:sp>
            <p:nvSpPr>
              <p:cNvPr id="51" name="Freeform 51"/>
              <p:cNvSpPr/>
              <p:nvPr/>
            </p:nvSpPr>
            <p:spPr>
              <a:xfrm>
                <a:off x="0" y="0"/>
                <a:ext cx="812800" cy="507575"/>
              </a:xfrm>
              <a:custGeom>
                <a:avLst/>
                <a:gdLst/>
                <a:ahLst/>
                <a:cxnLst/>
                <a:rect l="l" t="t" r="r" b="b"/>
                <a:pathLst>
                  <a:path w="812800" h="507575">
                    <a:moveTo>
                      <a:pt x="127941" y="0"/>
                    </a:moveTo>
                    <a:lnTo>
                      <a:pt x="684859" y="0"/>
                    </a:lnTo>
                    <a:cubicBezTo>
                      <a:pt x="718791" y="0"/>
                      <a:pt x="751333" y="13479"/>
                      <a:pt x="775327" y="37473"/>
                    </a:cubicBezTo>
                    <a:cubicBezTo>
                      <a:pt x="799321" y="61467"/>
                      <a:pt x="812800" y="94009"/>
                      <a:pt x="812800" y="127941"/>
                    </a:cubicBezTo>
                    <a:lnTo>
                      <a:pt x="812800" y="379634"/>
                    </a:lnTo>
                    <a:cubicBezTo>
                      <a:pt x="812800" y="413566"/>
                      <a:pt x="799321" y="446108"/>
                      <a:pt x="775327" y="470102"/>
                    </a:cubicBezTo>
                    <a:cubicBezTo>
                      <a:pt x="751333" y="494095"/>
                      <a:pt x="718791" y="507575"/>
                      <a:pt x="684859" y="507575"/>
                    </a:cubicBezTo>
                    <a:lnTo>
                      <a:pt x="127941" y="507575"/>
                    </a:lnTo>
                    <a:cubicBezTo>
                      <a:pt x="94009" y="507575"/>
                      <a:pt x="61467" y="494095"/>
                      <a:pt x="37473" y="470102"/>
                    </a:cubicBezTo>
                    <a:cubicBezTo>
                      <a:pt x="13479" y="446108"/>
                      <a:pt x="0" y="413566"/>
                      <a:pt x="0" y="379634"/>
                    </a:cubicBezTo>
                    <a:lnTo>
                      <a:pt x="0" y="127941"/>
                    </a:lnTo>
                    <a:cubicBezTo>
                      <a:pt x="0" y="94009"/>
                      <a:pt x="13479" y="61467"/>
                      <a:pt x="37473" y="37473"/>
                    </a:cubicBezTo>
                    <a:cubicBezTo>
                      <a:pt x="61467" y="13479"/>
                      <a:pt x="94009" y="0"/>
                      <a:pt x="127941" y="0"/>
                    </a:cubicBezTo>
                    <a:close/>
                  </a:path>
                </a:pathLst>
              </a:custGeom>
              <a:solidFill>
                <a:srgbClr val="BBC8B1"/>
              </a:solidFill>
            </p:spPr>
          </p:sp>
          <p:sp>
            <p:nvSpPr>
              <p:cNvPr id="52" name="TextBox 52"/>
              <p:cNvSpPr txBox="1"/>
              <p:nvPr/>
            </p:nvSpPr>
            <p:spPr>
              <a:xfrm>
                <a:off x="0" y="-47625"/>
                <a:ext cx="812800" cy="555200"/>
              </a:xfrm>
              <a:prstGeom prst="rect">
                <a:avLst/>
              </a:prstGeom>
            </p:spPr>
            <p:txBody>
              <a:bodyPr lIns="50800" tIns="50800" rIns="50800" bIns="50800" rtlCol="0" anchor="ctr"/>
              <a:lstStyle/>
              <a:p>
                <a:pPr algn="ctr">
                  <a:lnSpc>
                    <a:spcPts val="3010"/>
                  </a:lnSpc>
                </a:pPr>
              </a:p>
            </p:txBody>
          </p:sp>
        </p:grpSp>
        <p:sp>
          <p:nvSpPr>
            <p:cNvPr id="53" name="TextBox 53"/>
            <p:cNvSpPr txBox="1"/>
            <p:nvPr/>
          </p:nvSpPr>
          <p:spPr>
            <a:xfrm>
              <a:off x="412852" y="5191613"/>
              <a:ext cx="3272549" cy="1347362"/>
            </a:xfrm>
            <a:prstGeom prst="rect">
              <a:avLst/>
            </a:prstGeom>
          </p:spPr>
          <p:txBody>
            <a:bodyPr lIns="0" tIns="0" rIns="0" bIns="0" rtlCol="0" anchor="t">
              <a:spAutoFit/>
            </a:bodyPr>
            <a:lstStyle/>
            <a:p>
              <a:pPr algn="ctr">
                <a:lnSpc>
                  <a:spcPts val="2770"/>
                </a:lnSpc>
              </a:pPr>
              <a:r>
                <a:rPr lang="en-US" sz="1980" b="1">
                  <a:solidFill>
                    <a:srgbClr val="000000"/>
                  </a:solidFill>
                  <a:latin typeface="Canva Sans Bold" panose="020B0803030501040103"/>
                  <a:ea typeface="Canva Sans Bold" panose="020B0803030501040103"/>
                  <a:cs typeface="Canva Sans Bold" panose="020B0803030501040103"/>
                  <a:sym typeface="Canva Sans Bold" panose="020B0803030501040103"/>
                </a:rPr>
                <a:t>Sentence Vector </a:t>
              </a:r>
              <a:endParaRPr lang="en-US" sz="198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a:p>
              <a:pPr algn="ctr">
                <a:lnSpc>
                  <a:spcPts val="2770"/>
                </a:lnSpc>
              </a:pPr>
              <a:r>
                <a:rPr lang="en-US" sz="1980" b="1">
                  <a:solidFill>
                    <a:srgbClr val="000000"/>
                  </a:solidFill>
                  <a:latin typeface="Canva Sans Bold" panose="020B0803030501040103"/>
                  <a:ea typeface="Canva Sans Bold" panose="020B0803030501040103"/>
                  <a:cs typeface="Canva Sans Bold" panose="020B0803030501040103"/>
                  <a:sym typeface="Canva Sans Bold" panose="020B0803030501040103"/>
                </a:rPr>
                <a:t> (Single 768-d embedding) </a:t>
              </a:r>
              <a:endParaRPr lang="en-US" sz="1980" b="1">
                <a:solidFill>
                  <a:srgbClr val="000000"/>
                </a:solidFill>
                <a:latin typeface="Canva Sans Bold" panose="020B0803030501040103"/>
                <a:ea typeface="Canva Sans Bold" panose="020B0803030501040103"/>
                <a:cs typeface="Canva Sans Bold" panose="020B0803030501040103"/>
                <a:sym typeface="Canva Sans Bold" panose="020B0803030501040103"/>
              </a:endParaRPr>
            </a:p>
          </p:txBody>
        </p:sp>
        <p:sp>
          <p:nvSpPr>
            <p:cNvPr id="54" name="AutoShape 54"/>
            <p:cNvSpPr/>
            <p:nvPr/>
          </p:nvSpPr>
          <p:spPr>
            <a:xfrm>
              <a:off x="2649315" y="1306491"/>
              <a:ext cx="2758613" cy="0"/>
            </a:xfrm>
            <a:prstGeom prst="line">
              <a:avLst/>
            </a:prstGeom>
            <a:ln w="50800" cap="flat">
              <a:solidFill>
                <a:srgbClr val="BBC8B1"/>
              </a:solidFill>
              <a:prstDash val="solid"/>
              <a:headEnd type="none" w="sm" len="sm"/>
              <a:tailEnd type="triangle" w="lg" len="med"/>
            </a:ln>
          </p:spPr>
        </p:sp>
        <p:sp>
          <p:nvSpPr>
            <p:cNvPr id="55" name="AutoShape 55"/>
            <p:cNvSpPr/>
            <p:nvPr/>
          </p:nvSpPr>
          <p:spPr>
            <a:xfrm>
              <a:off x="8042713" y="1227574"/>
              <a:ext cx="2758613" cy="0"/>
            </a:xfrm>
            <a:prstGeom prst="line">
              <a:avLst/>
            </a:prstGeom>
            <a:ln w="50800" cap="flat">
              <a:solidFill>
                <a:srgbClr val="BBC8B1"/>
              </a:solidFill>
              <a:prstDash val="solid"/>
              <a:headEnd type="none" w="sm" len="sm"/>
              <a:tailEnd type="triangle" w="lg" len="med"/>
            </a:ln>
          </p:spPr>
        </p:sp>
        <p:sp>
          <p:nvSpPr>
            <p:cNvPr id="56" name="AutoShape 56"/>
            <p:cNvSpPr/>
            <p:nvPr/>
          </p:nvSpPr>
          <p:spPr>
            <a:xfrm>
              <a:off x="13695763" y="1202174"/>
              <a:ext cx="2758613" cy="0"/>
            </a:xfrm>
            <a:prstGeom prst="line">
              <a:avLst/>
            </a:prstGeom>
            <a:ln w="50800" cap="flat">
              <a:solidFill>
                <a:srgbClr val="BBC8B1"/>
              </a:solidFill>
              <a:prstDash val="solid"/>
              <a:headEnd type="none" w="sm" len="sm"/>
              <a:tailEnd type="triangle" w="lg" len="med"/>
            </a:ln>
          </p:spPr>
        </p:sp>
        <p:sp>
          <p:nvSpPr>
            <p:cNvPr id="57" name="AutoShape 57"/>
            <p:cNvSpPr/>
            <p:nvPr/>
          </p:nvSpPr>
          <p:spPr>
            <a:xfrm>
              <a:off x="18351770" y="2039680"/>
              <a:ext cx="83806" cy="2651779"/>
            </a:xfrm>
            <a:prstGeom prst="line">
              <a:avLst/>
            </a:prstGeom>
            <a:ln w="50800" cap="flat">
              <a:solidFill>
                <a:srgbClr val="BBC8B1"/>
              </a:solidFill>
              <a:prstDash val="solid"/>
              <a:headEnd type="none" w="sm" len="sm"/>
              <a:tailEnd type="triangle" w="lg" len="med"/>
            </a:ln>
          </p:spPr>
        </p:sp>
        <p:sp>
          <p:nvSpPr>
            <p:cNvPr id="58" name="AutoShape 58"/>
            <p:cNvSpPr/>
            <p:nvPr/>
          </p:nvSpPr>
          <p:spPr>
            <a:xfrm flipH="1">
              <a:off x="14920228" y="5969832"/>
              <a:ext cx="2758613" cy="0"/>
            </a:xfrm>
            <a:prstGeom prst="line">
              <a:avLst/>
            </a:prstGeom>
            <a:ln w="50800" cap="flat">
              <a:solidFill>
                <a:srgbClr val="BBC8B1"/>
              </a:solidFill>
              <a:prstDash val="solid"/>
              <a:headEnd type="none" w="sm" len="sm"/>
              <a:tailEnd type="triangle" w="lg" len="med"/>
            </a:ln>
          </p:spPr>
        </p:sp>
        <p:sp>
          <p:nvSpPr>
            <p:cNvPr id="59" name="AutoShape 59"/>
            <p:cNvSpPr/>
            <p:nvPr/>
          </p:nvSpPr>
          <p:spPr>
            <a:xfrm flipH="1" flipV="1">
              <a:off x="9613900" y="5840931"/>
              <a:ext cx="1191528" cy="25400"/>
            </a:xfrm>
            <a:prstGeom prst="line">
              <a:avLst/>
            </a:prstGeom>
            <a:ln w="50800" cap="flat">
              <a:solidFill>
                <a:srgbClr val="BBC8B1"/>
              </a:solidFill>
              <a:prstDash val="solid"/>
              <a:headEnd type="none" w="sm" len="sm"/>
              <a:tailEnd type="triangle" w="lg" len="med"/>
            </a:ln>
          </p:spPr>
        </p:sp>
        <p:sp>
          <p:nvSpPr>
            <p:cNvPr id="60" name="AutoShape 60"/>
            <p:cNvSpPr/>
            <p:nvPr/>
          </p:nvSpPr>
          <p:spPr>
            <a:xfrm flipH="1">
              <a:off x="4131419" y="5929981"/>
              <a:ext cx="2758613" cy="0"/>
            </a:xfrm>
            <a:prstGeom prst="line">
              <a:avLst/>
            </a:prstGeom>
            <a:ln w="50800" cap="flat">
              <a:solidFill>
                <a:srgbClr val="BBC8B1"/>
              </a:solidFill>
              <a:prstDash val="solid"/>
              <a:headEnd type="none" w="sm" len="sm"/>
              <a:tailEnd type="triangle" w="lg" len="med"/>
            </a:ln>
          </p:spPr>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PHASES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136121" y="1796056"/>
            <a:ext cx="16053859" cy="54933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Phase 1: FIR Generation</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Takes natural-language case/complaint details from the user.</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Uses a semi-agent for guessing the IPC sections that are relevant to the case to enhance accuracy.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Analyzes the complaint using Sentence-BERT to identify relevant legal sections.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Displays the AI-generated FIR in proper legal format with PDF download.</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Generates a structured FIR document using LLMs and sends it to the frontend.</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8" name="TextBox 28"/>
          <p:cNvSpPr txBox="1"/>
          <p:nvPr/>
        </p:nvSpPr>
        <p:spPr>
          <a:xfrm>
            <a:off x="1117071" y="6216210"/>
            <a:ext cx="16053859" cy="18357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Technologies: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Sentence-BERT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Semantic-Expansion &amp; Search</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1204094" y="1606308"/>
            <a:ext cx="15528463" cy="7764232"/>
          </a:xfrm>
          <a:custGeom>
            <a:avLst/>
            <a:gdLst/>
            <a:ahLst/>
            <a:cxnLst/>
            <a:rect l="l" t="t" r="r" b="b"/>
            <a:pathLst>
              <a:path w="15528463" h="7764232">
                <a:moveTo>
                  <a:pt x="0" y="0"/>
                </a:moveTo>
                <a:lnTo>
                  <a:pt x="15528463" y="0"/>
                </a:lnTo>
                <a:lnTo>
                  <a:pt x="15528463" y="7764232"/>
                </a:lnTo>
                <a:lnTo>
                  <a:pt x="0" y="7764232"/>
                </a:lnTo>
                <a:lnTo>
                  <a:pt x="0" y="0"/>
                </a:lnTo>
                <a:close/>
              </a:path>
            </a:pathLst>
          </a:custGeom>
          <a:blipFill>
            <a:blip r:embed="rId1"/>
            <a:stretch>
              <a:fillRect/>
            </a:stretch>
          </a:blipFill>
        </p:spPr>
      </p:sp>
      <p:sp>
        <p:nvSpPr>
          <p:cNvPr id="21" name="TextBox 21"/>
          <p:cNvSpPr txBox="1"/>
          <p:nvPr/>
        </p:nvSpPr>
        <p:spPr>
          <a:xfrm>
            <a:off x="2344413" y="558943"/>
            <a:ext cx="12658555" cy="712738"/>
          </a:xfrm>
          <a:prstGeom prst="rect">
            <a:avLst/>
          </a:prstGeom>
        </p:spPr>
        <p:txBody>
          <a:bodyPr lIns="0" tIns="0" rIns="0" bIns="0" rtlCol="0" anchor="t">
            <a:spAutoFit/>
          </a:bodyPr>
          <a:lstStyle/>
          <a:p>
            <a:pPr marL="0" lvl="0" indent="0" algn="ctr">
              <a:lnSpc>
                <a:spcPts val="5585"/>
              </a:lnSpc>
            </a:pPr>
            <a:r>
              <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ARCHITECTURE OF LLAMA 3.3 70B</a:t>
            </a:r>
            <a:endParaRPr lang="en-US" sz="49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PHASES </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grpSp>
        <p:nvGrpSpPr>
          <p:cNvPr id="13" name="Group 13"/>
          <p:cNvGrpSpPr/>
          <p:nvPr/>
        </p:nvGrpSpPr>
        <p:grpSpPr>
          <a:xfrm rot="0">
            <a:off x="851452" y="340164"/>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0" name="Group 20"/>
          <p:cNvGrpSpPr/>
          <p:nvPr/>
        </p:nvGrpSpPr>
        <p:grpSpPr>
          <a:xfrm rot="5400000">
            <a:off x="144319" y="1076419"/>
            <a:ext cx="705284" cy="354496"/>
            <a:chOff x="0" y="0"/>
            <a:chExt cx="940378" cy="472661"/>
          </a:xfrm>
        </p:grpSpPr>
        <p:grpSp>
          <p:nvGrpSpPr>
            <p:cNvPr id="21" name="Group 21"/>
            <p:cNvGrpSpPr/>
            <p:nvPr/>
          </p:nvGrpSpPr>
          <p:grpSpPr>
            <a:xfrm rot="0">
              <a:off x="625271" y="78777"/>
              <a:ext cx="315107" cy="31510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4" name="Group 24"/>
            <p:cNvGrpSpPr/>
            <p:nvPr/>
          </p:nvGrpSpPr>
          <p:grpSpPr>
            <a:xfrm rot="0">
              <a:off x="0" y="0"/>
              <a:ext cx="472661" cy="47266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7" name="TextBox 27"/>
          <p:cNvSpPr txBox="1"/>
          <p:nvPr/>
        </p:nvSpPr>
        <p:spPr>
          <a:xfrm>
            <a:off x="1204094" y="2129431"/>
            <a:ext cx="16053859" cy="42741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Phase 2: Investigation Questionaire</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Allows the user to request investigation / cross-examination questions.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Displays role-based questions (complainant, accused, witnesses).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Agent reads FIR → identifies gaps → designs questions.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Generates context-aware questionnaires for investigation support.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a:p>
            <a:pPr algn="l">
              <a:lnSpc>
                <a:spcPts val="4865"/>
              </a:lnSpc>
            </a:pPr>
          </a:p>
        </p:txBody>
      </p:sp>
      <p:sp>
        <p:nvSpPr>
          <p:cNvPr id="28" name="TextBox 28"/>
          <p:cNvSpPr txBox="1"/>
          <p:nvPr/>
        </p:nvSpPr>
        <p:spPr>
          <a:xfrm>
            <a:off x="1117071" y="5251564"/>
            <a:ext cx="16053859" cy="18357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Technologies: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LLM Model - Llama 3.3 70B</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SPEECH TO TEXT</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grpSp>
        <p:nvGrpSpPr>
          <p:cNvPr id="13" name="Group 13"/>
          <p:cNvGrpSpPr/>
          <p:nvPr/>
        </p:nvGrpSpPr>
        <p:grpSpPr>
          <a:xfrm rot="0">
            <a:off x="851452" y="340164"/>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0" name="Group 20"/>
          <p:cNvGrpSpPr/>
          <p:nvPr/>
        </p:nvGrpSpPr>
        <p:grpSpPr>
          <a:xfrm rot="5400000">
            <a:off x="144319" y="1076419"/>
            <a:ext cx="705284" cy="354496"/>
            <a:chOff x="0" y="0"/>
            <a:chExt cx="940378" cy="472661"/>
          </a:xfrm>
        </p:grpSpPr>
        <p:grpSp>
          <p:nvGrpSpPr>
            <p:cNvPr id="21" name="Group 21"/>
            <p:cNvGrpSpPr/>
            <p:nvPr/>
          </p:nvGrpSpPr>
          <p:grpSpPr>
            <a:xfrm rot="0">
              <a:off x="625271" y="78777"/>
              <a:ext cx="315107" cy="315107"/>
              <a:chOff x="0" y="0"/>
              <a:chExt cx="812800" cy="812800"/>
            </a:xfrm>
          </p:grpSpPr>
          <p:sp>
            <p:nvSpPr>
              <p:cNvPr id="22" name="Freeform 2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3" name="TextBox 23"/>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4" name="Group 24"/>
            <p:cNvGrpSpPr/>
            <p:nvPr/>
          </p:nvGrpSpPr>
          <p:grpSpPr>
            <a:xfrm rot="0">
              <a:off x="0" y="0"/>
              <a:ext cx="472661" cy="472661"/>
              <a:chOff x="0" y="0"/>
              <a:chExt cx="812800" cy="812800"/>
            </a:xfrm>
          </p:grpSpPr>
          <p:sp>
            <p:nvSpPr>
              <p:cNvPr id="25" name="Freeform 2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6" name="TextBox 2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7" name="TextBox 27"/>
          <p:cNvSpPr txBox="1"/>
          <p:nvPr/>
        </p:nvSpPr>
        <p:spPr>
          <a:xfrm>
            <a:off x="1204094" y="2129431"/>
            <a:ext cx="16053859" cy="7322194"/>
          </a:xfrm>
          <a:prstGeom prst="rect">
            <a:avLst/>
          </a:prstGeom>
        </p:spPr>
        <p:txBody>
          <a:bodyPr lIns="0" tIns="0" rIns="0" bIns="0" rtlCol="0" anchor="t">
            <a:spAutoFit/>
          </a:bodyPr>
          <a:lstStyle/>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Uses the browser's built-in Web Speech API — no external library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User clicks the Mic button on the form field</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The b</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rowser requests microphone permission from the user</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Language is set to en-IN (Indian English)</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Ca</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ptures one speech at a time and stops automatically</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Converts spoken audio into a text transcript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Transcript is appended to the form field (doesn't overwrite existing text)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Shows a red pulsing "Listening…" indicator while recording</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Available on Case Description, Incident Details, and Interrogation Answer fields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Audio is processed by Google's servers via Chrome — requires internet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Supports the Indian English accent but not regional languages like Hindi or Telugu</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PHASES </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117071" y="1796056"/>
            <a:ext cx="16053859" cy="42741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Phase 3: Charge Sheet Filling</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Generates a charge sheet after FIR and questioning.</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Show</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 a structured charge sheet preview and export option.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Agent evaluates FIR + Q&amp;A → decides charges → structures report.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Based on those, it files a charge sheet with a complete summary and legal sections.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8" name="TextBox 28"/>
          <p:cNvSpPr txBox="1"/>
          <p:nvPr/>
        </p:nvSpPr>
        <p:spPr>
          <a:xfrm>
            <a:off x="1117071" y="5599239"/>
            <a:ext cx="16053859" cy="18357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Technologies: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LLM Model - Llama 3.3 70B</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475481"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PHASES </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117071" y="1796056"/>
            <a:ext cx="16053859" cy="54933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Phase 4: Verdict Prediction</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In this step, we use RAG to fetch the previous verdicts related to the given case by the user.</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Based on the RAG outputs, IPC sections, and case descriptions, these are sent to the LLM for verdict prediction along with the Reason for the verdict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To check the generated verdict, we use a semi-agent for the fairness metric test, which gives whether it is Fair, Needs to be reviewed by a human, and Unfair with a proper reason.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8" name="TextBox 28"/>
          <p:cNvSpPr txBox="1"/>
          <p:nvPr/>
        </p:nvSpPr>
        <p:spPr>
          <a:xfrm>
            <a:off x="1028700" y="6578404"/>
            <a:ext cx="16053859" cy="2445394"/>
          </a:xfrm>
          <a:prstGeom prst="rect">
            <a:avLst/>
          </a:prstGeom>
        </p:spPr>
        <p:txBody>
          <a:bodyPr lIns="0" tIns="0" rIns="0" bIns="0" rtlCol="0" anchor="t">
            <a:spAutoFit/>
          </a:bodyPr>
          <a:lstStyle/>
          <a:p>
            <a:pPr algn="l">
              <a:lnSpc>
                <a:spcPts val="4865"/>
              </a:lnSpc>
            </a:pPr>
            <a:r>
              <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rPr>
              <a:t>Technologies:</a:t>
            </a:r>
            <a:endParaRPr lang="en-US" sz="3475" b="1">
              <a:solidFill>
                <a:srgbClr val="000000"/>
              </a:solidFill>
              <a:latin typeface="Times New Roman Bold" panose="02020803070505020304"/>
              <a:ea typeface="Times New Roman Bold" panose="02020803070505020304"/>
              <a:cs typeface="Times New Roman Bold" panose="02020803070505020304"/>
              <a:sym typeface="Times New Roman Bold" panose="020208030705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LLM Model - Llama 3.3 70B</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RAG </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grpSp>
        <p:nvGrpSpPr>
          <p:cNvPr id="12" name="Group 12"/>
          <p:cNvGrpSpPr/>
          <p:nvPr/>
        </p:nvGrpSpPr>
        <p:grpSpPr>
          <a:xfrm rot="0">
            <a:off x="851452" y="340164"/>
            <a:ext cx="705284" cy="354496"/>
            <a:chOff x="0" y="0"/>
            <a:chExt cx="940378" cy="472661"/>
          </a:xfrm>
        </p:grpSpPr>
        <p:grpSp>
          <p:nvGrpSpPr>
            <p:cNvPr id="13" name="Group 13"/>
            <p:cNvGrpSpPr/>
            <p:nvPr/>
          </p:nvGrpSpPr>
          <p:grpSpPr>
            <a:xfrm rot="0">
              <a:off x="625271" y="78777"/>
              <a:ext cx="315107" cy="31510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6" name="Group 16"/>
            <p:cNvGrpSpPr/>
            <p:nvPr/>
          </p:nvGrpSpPr>
          <p:grpSpPr>
            <a:xfrm rot="0">
              <a:off x="0" y="0"/>
              <a:ext cx="472661" cy="4726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9" name="Group 19"/>
          <p:cNvGrpSpPr/>
          <p:nvPr/>
        </p:nvGrpSpPr>
        <p:grpSpPr>
          <a:xfrm rot="5400000">
            <a:off x="144319" y="1076419"/>
            <a:ext cx="705284" cy="354496"/>
            <a:chOff x="0" y="0"/>
            <a:chExt cx="940378" cy="472661"/>
          </a:xfrm>
        </p:grpSpPr>
        <p:grpSp>
          <p:nvGrpSpPr>
            <p:cNvPr id="20" name="Group 20"/>
            <p:cNvGrpSpPr/>
            <p:nvPr/>
          </p:nvGrpSpPr>
          <p:grpSpPr>
            <a:xfrm rot="0">
              <a:off x="625271" y="78777"/>
              <a:ext cx="315107" cy="31510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3" name="Group 23"/>
            <p:cNvGrpSpPr/>
            <p:nvPr/>
          </p:nvGrpSpPr>
          <p:grpSpPr>
            <a:xfrm rot="0">
              <a:off x="0" y="0"/>
              <a:ext cx="472661" cy="47266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6" name="TextBox 26"/>
          <p:cNvSpPr txBox="1"/>
          <p:nvPr/>
        </p:nvSpPr>
        <p:spPr>
          <a:xfrm>
            <a:off x="3055238" y="1282242"/>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RESULTS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27" name="TextBox 27"/>
          <p:cNvSpPr txBox="1"/>
          <p:nvPr/>
        </p:nvSpPr>
        <p:spPr>
          <a:xfrm>
            <a:off x="1556736" y="2325974"/>
            <a:ext cx="16053859" cy="3664594"/>
          </a:xfrm>
          <a:prstGeom prst="rect">
            <a:avLst/>
          </a:prstGeom>
        </p:spPr>
        <p:txBody>
          <a:bodyPr lIns="0" tIns="0" rIns="0" bIns="0" rtlCol="0" anchor="t">
            <a:spAutoFit/>
          </a:bodyPr>
          <a:lstStyle/>
          <a:p>
            <a:pPr algn="l">
              <a:lnSpc>
                <a:spcPts val="4865"/>
              </a:lnSpc>
            </a:p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Significan</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t reduction in docum</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ent pr</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eparation time</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Consistent legal formatting across outputs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Clear reasoning paths in verdict suggestions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Improved usability for investigative workflows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425726" y="1253667"/>
            <a:ext cx="17436548" cy="8500317"/>
          </a:xfrm>
          <a:custGeom>
            <a:avLst/>
            <a:gdLst/>
            <a:ahLst/>
            <a:cxnLst/>
            <a:rect l="l" t="t" r="r" b="b"/>
            <a:pathLst>
              <a:path w="17436548" h="8500317">
                <a:moveTo>
                  <a:pt x="0" y="0"/>
                </a:moveTo>
                <a:lnTo>
                  <a:pt x="17436548" y="0"/>
                </a:lnTo>
                <a:lnTo>
                  <a:pt x="17436548" y="8500317"/>
                </a:lnTo>
                <a:lnTo>
                  <a:pt x="0" y="8500317"/>
                </a:lnTo>
                <a:lnTo>
                  <a:pt x="0" y="0"/>
                </a:lnTo>
                <a:close/>
              </a:path>
            </a:pathLst>
          </a:custGeom>
          <a:blipFill>
            <a:blip r:embed="rId1"/>
            <a:stretch>
              <a:fillRect/>
            </a:stretch>
          </a:blipFill>
        </p:spPr>
      </p:sp>
      <p:sp>
        <p:nvSpPr>
          <p:cNvPr id="21" name="TextBox 21"/>
          <p:cNvSpPr txBox="1"/>
          <p:nvPr/>
        </p:nvSpPr>
        <p:spPr>
          <a:xfrm>
            <a:off x="3216288" y="194669"/>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RESULTS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1028700" y="1253667"/>
            <a:ext cx="8318498" cy="8272091"/>
          </a:xfrm>
          <a:custGeom>
            <a:avLst/>
            <a:gdLst/>
            <a:ahLst/>
            <a:cxnLst/>
            <a:rect l="l" t="t" r="r" b="b"/>
            <a:pathLst>
              <a:path w="8318498" h="8272091">
                <a:moveTo>
                  <a:pt x="0" y="0"/>
                </a:moveTo>
                <a:lnTo>
                  <a:pt x="8318498" y="0"/>
                </a:lnTo>
                <a:lnTo>
                  <a:pt x="8318498" y="8272091"/>
                </a:lnTo>
                <a:lnTo>
                  <a:pt x="0" y="8272091"/>
                </a:lnTo>
                <a:lnTo>
                  <a:pt x="0" y="0"/>
                </a:lnTo>
                <a:close/>
              </a:path>
            </a:pathLst>
          </a:custGeom>
          <a:blipFill>
            <a:blip r:embed="rId1"/>
            <a:stretch>
              <a:fillRect/>
            </a:stretch>
          </a:blipFill>
        </p:spPr>
      </p:sp>
      <p:sp>
        <p:nvSpPr>
          <p:cNvPr id="21" name="Freeform 21"/>
          <p:cNvSpPr/>
          <p:nvPr/>
        </p:nvSpPr>
        <p:spPr>
          <a:xfrm>
            <a:off x="9693876" y="1751950"/>
            <a:ext cx="8286510" cy="6783100"/>
          </a:xfrm>
          <a:custGeom>
            <a:avLst/>
            <a:gdLst/>
            <a:ahLst/>
            <a:cxnLst/>
            <a:rect l="l" t="t" r="r" b="b"/>
            <a:pathLst>
              <a:path w="8286510" h="6783100">
                <a:moveTo>
                  <a:pt x="0" y="0"/>
                </a:moveTo>
                <a:lnTo>
                  <a:pt x="8286510" y="0"/>
                </a:lnTo>
                <a:lnTo>
                  <a:pt x="8286510" y="6783100"/>
                </a:lnTo>
                <a:lnTo>
                  <a:pt x="0" y="6783100"/>
                </a:lnTo>
                <a:lnTo>
                  <a:pt x="0" y="0"/>
                </a:lnTo>
                <a:close/>
              </a:path>
            </a:pathLst>
          </a:custGeom>
          <a:blipFill>
            <a:blip r:embed="rId2"/>
            <a:stretch>
              <a:fillRect/>
            </a:stretch>
          </a:blipFill>
        </p:spPr>
      </p:sp>
      <p:sp>
        <p:nvSpPr>
          <p:cNvPr id="22" name="TextBox 22"/>
          <p:cNvSpPr txBox="1"/>
          <p:nvPr/>
        </p:nvSpPr>
        <p:spPr>
          <a:xfrm>
            <a:off x="3216288" y="194669"/>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RESULTS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0" y="1387452"/>
            <a:ext cx="6007702" cy="7870848"/>
          </a:xfrm>
          <a:custGeom>
            <a:avLst/>
            <a:gdLst/>
            <a:ahLst/>
            <a:cxnLst/>
            <a:rect l="l" t="t" r="r" b="b"/>
            <a:pathLst>
              <a:path w="6007702" h="7870848">
                <a:moveTo>
                  <a:pt x="0" y="0"/>
                </a:moveTo>
                <a:lnTo>
                  <a:pt x="6007702" y="0"/>
                </a:lnTo>
                <a:lnTo>
                  <a:pt x="6007702" y="7870848"/>
                </a:lnTo>
                <a:lnTo>
                  <a:pt x="0" y="7870848"/>
                </a:lnTo>
                <a:lnTo>
                  <a:pt x="0" y="0"/>
                </a:lnTo>
                <a:close/>
              </a:path>
            </a:pathLst>
          </a:custGeom>
          <a:blipFill>
            <a:blip r:embed="rId1"/>
            <a:stretch>
              <a:fillRect t="-2939"/>
            </a:stretch>
          </a:blipFill>
        </p:spPr>
      </p:sp>
      <p:sp>
        <p:nvSpPr>
          <p:cNvPr id="21" name="Freeform 21"/>
          <p:cNvSpPr/>
          <p:nvPr/>
        </p:nvSpPr>
        <p:spPr>
          <a:xfrm>
            <a:off x="6269476" y="1253667"/>
            <a:ext cx="5749048" cy="8026593"/>
          </a:xfrm>
          <a:custGeom>
            <a:avLst/>
            <a:gdLst/>
            <a:ahLst/>
            <a:cxnLst/>
            <a:rect l="l" t="t" r="r" b="b"/>
            <a:pathLst>
              <a:path w="5749048" h="8026593">
                <a:moveTo>
                  <a:pt x="0" y="0"/>
                </a:moveTo>
                <a:lnTo>
                  <a:pt x="5749048" y="0"/>
                </a:lnTo>
                <a:lnTo>
                  <a:pt x="5749048" y="8026593"/>
                </a:lnTo>
                <a:lnTo>
                  <a:pt x="0" y="8026593"/>
                </a:lnTo>
                <a:lnTo>
                  <a:pt x="0" y="0"/>
                </a:lnTo>
                <a:close/>
              </a:path>
            </a:pathLst>
          </a:custGeom>
          <a:blipFill>
            <a:blip r:embed="rId2"/>
            <a:stretch>
              <a:fillRect/>
            </a:stretch>
          </a:blipFill>
        </p:spPr>
      </p:sp>
      <p:sp>
        <p:nvSpPr>
          <p:cNvPr id="22" name="Freeform 22"/>
          <p:cNvSpPr/>
          <p:nvPr/>
        </p:nvSpPr>
        <p:spPr>
          <a:xfrm>
            <a:off x="12275699" y="1243314"/>
            <a:ext cx="5897081" cy="7800372"/>
          </a:xfrm>
          <a:custGeom>
            <a:avLst/>
            <a:gdLst/>
            <a:ahLst/>
            <a:cxnLst/>
            <a:rect l="l" t="t" r="r" b="b"/>
            <a:pathLst>
              <a:path w="5897081" h="7800372">
                <a:moveTo>
                  <a:pt x="0" y="0"/>
                </a:moveTo>
                <a:lnTo>
                  <a:pt x="5897081" y="0"/>
                </a:lnTo>
                <a:lnTo>
                  <a:pt x="5897081" y="7800372"/>
                </a:lnTo>
                <a:lnTo>
                  <a:pt x="0" y="7800372"/>
                </a:lnTo>
                <a:lnTo>
                  <a:pt x="0" y="0"/>
                </a:lnTo>
                <a:close/>
              </a:path>
            </a:pathLst>
          </a:custGeom>
          <a:blipFill>
            <a:blip r:embed="rId3"/>
            <a:stretch>
              <a:fillRect/>
            </a:stretch>
          </a:blipFill>
        </p:spPr>
      </p:sp>
      <p:sp>
        <p:nvSpPr>
          <p:cNvPr id="23" name="TextBox 23"/>
          <p:cNvSpPr txBox="1"/>
          <p:nvPr/>
        </p:nvSpPr>
        <p:spPr>
          <a:xfrm>
            <a:off x="3216288" y="194669"/>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RESULTS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851452" y="340164"/>
            <a:ext cx="705284" cy="354496"/>
            <a:chOff x="0" y="0"/>
            <a:chExt cx="940378" cy="472661"/>
          </a:xfrm>
        </p:grpSpPr>
        <p:grpSp>
          <p:nvGrpSpPr>
            <p:cNvPr id="7" name="Group 7"/>
            <p:cNvGrpSpPr/>
            <p:nvPr/>
          </p:nvGrpSpPr>
          <p:grpSpPr>
            <a:xfrm rot="0">
              <a:off x="625271" y="78777"/>
              <a:ext cx="315107" cy="315107"/>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9" name="TextBox 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0" name="Group 10"/>
            <p:cNvGrpSpPr/>
            <p:nvPr/>
          </p:nvGrpSpPr>
          <p:grpSpPr>
            <a:xfrm rot="0">
              <a:off x="0" y="0"/>
              <a:ext cx="472661" cy="472661"/>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2" name="TextBox 1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3" name="Group 13"/>
          <p:cNvGrpSpPr/>
          <p:nvPr/>
        </p:nvGrpSpPr>
        <p:grpSpPr>
          <a:xfrm rot="5400000">
            <a:off x="144319" y="1076419"/>
            <a:ext cx="705284" cy="354496"/>
            <a:chOff x="0" y="0"/>
            <a:chExt cx="940378" cy="472661"/>
          </a:xfrm>
        </p:grpSpPr>
        <p:grpSp>
          <p:nvGrpSpPr>
            <p:cNvPr id="14" name="Group 14"/>
            <p:cNvGrpSpPr/>
            <p:nvPr/>
          </p:nvGrpSpPr>
          <p:grpSpPr>
            <a:xfrm rot="0">
              <a:off x="625271" y="78777"/>
              <a:ext cx="315107" cy="315107"/>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6" name="TextBox 16"/>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7" name="Group 17"/>
            <p:cNvGrpSpPr/>
            <p:nvPr/>
          </p:nvGrpSpPr>
          <p:grpSpPr>
            <a:xfrm rot="0">
              <a:off x="0" y="0"/>
              <a:ext cx="472661" cy="472661"/>
              <a:chOff x="0" y="0"/>
              <a:chExt cx="812800" cy="812800"/>
            </a:xfrm>
          </p:grpSpPr>
          <p:sp>
            <p:nvSpPr>
              <p:cNvPr id="18" name="Freeform 1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9" name="TextBox 19"/>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0" name="Freeform 20"/>
          <p:cNvSpPr/>
          <p:nvPr/>
        </p:nvSpPr>
        <p:spPr>
          <a:xfrm>
            <a:off x="43615" y="2620783"/>
            <a:ext cx="6906714" cy="6105210"/>
          </a:xfrm>
          <a:custGeom>
            <a:avLst/>
            <a:gdLst/>
            <a:ahLst/>
            <a:cxnLst/>
            <a:rect l="l" t="t" r="r" b="b"/>
            <a:pathLst>
              <a:path w="6906714" h="6105210">
                <a:moveTo>
                  <a:pt x="0" y="0"/>
                </a:moveTo>
                <a:lnTo>
                  <a:pt x="6906715" y="0"/>
                </a:lnTo>
                <a:lnTo>
                  <a:pt x="6906715" y="6105210"/>
                </a:lnTo>
                <a:lnTo>
                  <a:pt x="0" y="6105210"/>
                </a:lnTo>
                <a:lnTo>
                  <a:pt x="0" y="0"/>
                </a:lnTo>
                <a:close/>
              </a:path>
            </a:pathLst>
          </a:custGeom>
          <a:blipFill>
            <a:blip r:embed="rId1"/>
            <a:stretch>
              <a:fillRect l="-2084" b="-9433"/>
            </a:stretch>
          </a:blipFill>
        </p:spPr>
      </p:sp>
      <p:sp>
        <p:nvSpPr>
          <p:cNvPr id="21" name="Freeform 21"/>
          <p:cNvSpPr/>
          <p:nvPr/>
        </p:nvSpPr>
        <p:spPr>
          <a:xfrm>
            <a:off x="7083436" y="2620783"/>
            <a:ext cx="11047523" cy="6105210"/>
          </a:xfrm>
          <a:custGeom>
            <a:avLst/>
            <a:gdLst/>
            <a:ahLst/>
            <a:cxnLst/>
            <a:rect l="l" t="t" r="r" b="b"/>
            <a:pathLst>
              <a:path w="11047523" h="6105210">
                <a:moveTo>
                  <a:pt x="0" y="0"/>
                </a:moveTo>
                <a:lnTo>
                  <a:pt x="11047523" y="0"/>
                </a:lnTo>
                <a:lnTo>
                  <a:pt x="11047523" y="6105210"/>
                </a:lnTo>
                <a:lnTo>
                  <a:pt x="0" y="6105210"/>
                </a:lnTo>
                <a:lnTo>
                  <a:pt x="0" y="0"/>
                </a:lnTo>
                <a:close/>
              </a:path>
            </a:pathLst>
          </a:custGeom>
          <a:blipFill>
            <a:blip r:embed="rId2"/>
            <a:stretch>
              <a:fillRect/>
            </a:stretch>
          </a:blipFill>
        </p:spPr>
      </p:sp>
      <p:sp>
        <p:nvSpPr>
          <p:cNvPr id="22" name="TextBox 22"/>
          <p:cNvSpPr txBox="1"/>
          <p:nvPr/>
        </p:nvSpPr>
        <p:spPr>
          <a:xfrm>
            <a:off x="3216288" y="194669"/>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RESULTS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grpSp>
        <p:nvGrpSpPr>
          <p:cNvPr id="12" name="Group 12"/>
          <p:cNvGrpSpPr/>
          <p:nvPr/>
        </p:nvGrpSpPr>
        <p:grpSpPr>
          <a:xfrm rot="0">
            <a:off x="851452" y="340164"/>
            <a:ext cx="705284" cy="354496"/>
            <a:chOff x="0" y="0"/>
            <a:chExt cx="940378" cy="472661"/>
          </a:xfrm>
        </p:grpSpPr>
        <p:grpSp>
          <p:nvGrpSpPr>
            <p:cNvPr id="13" name="Group 13"/>
            <p:cNvGrpSpPr/>
            <p:nvPr/>
          </p:nvGrpSpPr>
          <p:grpSpPr>
            <a:xfrm rot="0">
              <a:off x="625271" y="78777"/>
              <a:ext cx="315107" cy="315107"/>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5" name="TextBox 1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6" name="Group 16"/>
            <p:cNvGrpSpPr/>
            <p:nvPr/>
          </p:nvGrpSpPr>
          <p:grpSpPr>
            <a:xfrm rot="0">
              <a:off x="0" y="0"/>
              <a:ext cx="472661" cy="472661"/>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8" name="TextBox 18"/>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19" name="Group 19"/>
          <p:cNvGrpSpPr/>
          <p:nvPr/>
        </p:nvGrpSpPr>
        <p:grpSpPr>
          <a:xfrm rot="5400000">
            <a:off x="144319" y="1076419"/>
            <a:ext cx="705284" cy="354496"/>
            <a:chOff x="0" y="0"/>
            <a:chExt cx="940378" cy="472661"/>
          </a:xfrm>
        </p:grpSpPr>
        <p:grpSp>
          <p:nvGrpSpPr>
            <p:cNvPr id="20" name="Group 20"/>
            <p:cNvGrpSpPr/>
            <p:nvPr/>
          </p:nvGrpSpPr>
          <p:grpSpPr>
            <a:xfrm rot="0">
              <a:off x="625271" y="78777"/>
              <a:ext cx="315107" cy="315107"/>
              <a:chOff x="0" y="0"/>
              <a:chExt cx="812800" cy="812800"/>
            </a:xfrm>
          </p:grpSpPr>
          <p:sp>
            <p:nvSpPr>
              <p:cNvPr id="21" name="Freeform 2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2" name="TextBox 22"/>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3" name="Group 23"/>
            <p:cNvGrpSpPr/>
            <p:nvPr/>
          </p:nvGrpSpPr>
          <p:grpSpPr>
            <a:xfrm rot="0">
              <a:off x="0" y="0"/>
              <a:ext cx="472661" cy="472661"/>
              <a:chOff x="0" y="0"/>
              <a:chExt cx="812800" cy="812800"/>
            </a:xfrm>
          </p:grpSpPr>
          <p:sp>
            <p:nvSpPr>
              <p:cNvPr id="24" name="Freeform 2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5" name="TextBox 25"/>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6" name="TextBox 26"/>
          <p:cNvSpPr txBox="1"/>
          <p:nvPr/>
        </p:nvSpPr>
        <p:spPr>
          <a:xfrm>
            <a:off x="3401313" y="1634883"/>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LIMITATIONS</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27" name="TextBox 27"/>
          <p:cNvSpPr txBox="1"/>
          <p:nvPr/>
        </p:nvSpPr>
        <p:spPr>
          <a:xfrm>
            <a:off x="2234141" y="3538405"/>
            <a:ext cx="16053859" cy="1871345"/>
          </a:xfrm>
          <a:prstGeom prst="rect">
            <a:avLst/>
          </a:prstGeom>
        </p:spPr>
        <p:txBody>
          <a:bodyPr lIns="0" tIns="0" rIns="0" bIns="0" rtlCol="0" anchor="t">
            <a:spAutoFit/>
          </a:bodyPr>
          <a:lstStyle/>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English-only, no regional language support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API key, rate limit handling</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Browser-dependent speech-to-text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0">
            <a:off x="260630" y="281082"/>
            <a:ext cx="472661" cy="472661"/>
            <a:chOff x="0" y="0"/>
            <a:chExt cx="812800" cy="812800"/>
          </a:xfrm>
        </p:grpSpPr>
        <p:sp>
          <p:nvSpPr>
            <p:cNvPr id="3" name="Freeform 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4" name="TextBox 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sp>
        <p:nvSpPr>
          <p:cNvPr id="5" name="AutoShape 5"/>
          <p:cNvSpPr/>
          <p:nvPr/>
        </p:nvSpPr>
        <p:spPr>
          <a:xfrm>
            <a:off x="17364075" y="6915141"/>
            <a:ext cx="0" cy="2610617"/>
          </a:xfrm>
          <a:prstGeom prst="line">
            <a:avLst/>
          </a:prstGeom>
          <a:ln w="123825" cap="flat">
            <a:solidFill>
              <a:srgbClr val="BBC8B1"/>
            </a:solidFill>
            <a:prstDash val="sysDot"/>
            <a:headEnd type="none" w="sm" len="sm"/>
            <a:tailEnd type="none" w="sm" len="sm"/>
          </a:ln>
        </p:spPr>
      </p:sp>
      <p:grpSp>
        <p:nvGrpSpPr>
          <p:cNvPr id="6" name="Group 6"/>
          <p:cNvGrpSpPr/>
          <p:nvPr/>
        </p:nvGrpSpPr>
        <p:grpSpPr>
          <a:xfrm rot="0">
            <a:off x="13756206" y="-514350"/>
            <a:ext cx="6163724" cy="3086100"/>
            <a:chOff x="0" y="0"/>
            <a:chExt cx="1623368" cy="812800"/>
          </a:xfrm>
        </p:grpSpPr>
        <p:sp>
          <p:nvSpPr>
            <p:cNvPr id="7" name="Freeform 7"/>
            <p:cNvSpPr/>
            <p:nvPr/>
          </p:nvSpPr>
          <p:spPr>
            <a:xfrm>
              <a:off x="0" y="0"/>
              <a:ext cx="1623368" cy="812800"/>
            </a:xfrm>
            <a:custGeom>
              <a:avLst/>
              <a:gdLst/>
              <a:ahLst/>
              <a:cxnLst/>
              <a:rect l="l" t="t" r="r" b="b"/>
              <a:pathLst>
                <a:path w="1623368" h="812800">
                  <a:moveTo>
                    <a:pt x="0" y="0"/>
                  </a:moveTo>
                  <a:lnTo>
                    <a:pt x="1623368" y="0"/>
                  </a:lnTo>
                  <a:lnTo>
                    <a:pt x="1623368" y="812800"/>
                  </a:lnTo>
                  <a:lnTo>
                    <a:pt x="0" y="812800"/>
                  </a:lnTo>
                  <a:close/>
                </a:path>
              </a:pathLst>
            </a:custGeom>
            <a:solidFill>
              <a:srgbClr val="EAEBE9"/>
            </a:solidFill>
          </p:spPr>
        </p:sp>
        <p:sp>
          <p:nvSpPr>
            <p:cNvPr id="8" name="TextBox 8"/>
            <p:cNvSpPr txBox="1"/>
            <p:nvPr/>
          </p:nvSpPr>
          <p:spPr>
            <a:xfrm>
              <a:off x="0" y="-47625"/>
              <a:ext cx="1623368" cy="860425"/>
            </a:xfrm>
            <a:prstGeom prst="rect">
              <a:avLst/>
            </a:prstGeom>
          </p:spPr>
          <p:txBody>
            <a:bodyPr lIns="50800" tIns="50800" rIns="50800" bIns="50800" rtlCol="0" anchor="ctr"/>
            <a:lstStyle/>
            <a:p>
              <a:pPr algn="ctr">
                <a:lnSpc>
                  <a:spcPts val="3010"/>
                </a:lnSpc>
              </a:pPr>
            </a:p>
          </p:txBody>
        </p:sp>
      </p:grpSp>
      <p:grpSp>
        <p:nvGrpSpPr>
          <p:cNvPr id="9" name="Group 9"/>
          <p:cNvGrpSpPr/>
          <p:nvPr/>
        </p:nvGrpSpPr>
        <p:grpSpPr>
          <a:xfrm rot="0">
            <a:off x="-2582136" y="8362283"/>
            <a:ext cx="7059741" cy="3086100"/>
            <a:chOff x="0" y="0"/>
            <a:chExt cx="1859356" cy="812800"/>
          </a:xfrm>
        </p:grpSpPr>
        <p:sp>
          <p:nvSpPr>
            <p:cNvPr id="10" name="Freeform 10"/>
            <p:cNvSpPr/>
            <p:nvPr/>
          </p:nvSpPr>
          <p:spPr>
            <a:xfrm>
              <a:off x="0" y="0"/>
              <a:ext cx="1859356" cy="812800"/>
            </a:xfrm>
            <a:custGeom>
              <a:avLst/>
              <a:gdLst/>
              <a:ahLst/>
              <a:cxnLst/>
              <a:rect l="l" t="t" r="r" b="b"/>
              <a:pathLst>
                <a:path w="1859356" h="812800">
                  <a:moveTo>
                    <a:pt x="0" y="0"/>
                  </a:moveTo>
                  <a:lnTo>
                    <a:pt x="1859356" y="0"/>
                  </a:lnTo>
                  <a:lnTo>
                    <a:pt x="1859356" y="812800"/>
                  </a:lnTo>
                  <a:lnTo>
                    <a:pt x="0" y="812800"/>
                  </a:lnTo>
                  <a:close/>
                </a:path>
              </a:pathLst>
            </a:custGeom>
            <a:solidFill>
              <a:srgbClr val="EAEBE9"/>
            </a:solidFill>
          </p:spPr>
        </p:sp>
        <p:sp>
          <p:nvSpPr>
            <p:cNvPr id="11" name="TextBox 11"/>
            <p:cNvSpPr txBox="1"/>
            <p:nvPr/>
          </p:nvSpPr>
          <p:spPr>
            <a:xfrm>
              <a:off x="0" y="-47625"/>
              <a:ext cx="1859356" cy="860425"/>
            </a:xfrm>
            <a:prstGeom prst="rect">
              <a:avLst/>
            </a:prstGeom>
          </p:spPr>
          <p:txBody>
            <a:bodyPr lIns="50800" tIns="50800" rIns="50800" bIns="50800" rtlCol="0" anchor="ctr"/>
            <a:lstStyle/>
            <a:p>
              <a:pPr algn="ctr">
                <a:lnSpc>
                  <a:spcPts val="3010"/>
                </a:lnSpc>
              </a:pPr>
            </a:p>
          </p:txBody>
        </p:sp>
      </p:grpSp>
      <p:sp>
        <p:nvSpPr>
          <p:cNvPr id="12" name="TextBox 12"/>
          <p:cNvSpPr txBox="1"/>
          <p:nvPr/>
        </p:nvSpPr>
        <p:spPr>
          <a:xfrm>
            <a:off x="3300656" y="1057275"/>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CONCLUSION</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13" name="TextBox 13"/>
          <p:cNvSpPr txBox="1"/>
          <p:nvPr/>
        </p:nvSpPr>
        <p:spPr>
          <a:xfrm>
            <a:off x="1117071" y="2476500"/>
            <a:ext cx="16053859" cy="2445394"/>
          </a:xfrm>
          <a:prstGeom prst="rect">
            <a:avLst/>
          </a:prstGeom>
        </p:spPr>
        <p:txBody>
          <a:bodyPr lIns="0" tIns="0" rIns="0" bIns="0" rtlCol="0" anchor="t">
            <a:spAutoFit/>
          </a:bodyPr>
          <a:lstStyle/>
          <a:p>
            <a:pPr algn="l">
              <a:lnSpc>
                <a:spcPts val="4865"/>
              </a:lnSpc>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La</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wgorithm demonstrates how AI can responsibly </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assist the l</a:t>
            </a: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egal domain through explainable, rule-guided automation. By focusing on statutory logic rather than historical bias, the system ensures ethical alignment while improving efficiency in legal processes.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grpSp>
        <p:nvGrpSpPr>
          <p:cNvPr id="14" name="Group 14"/>
          <p:cNvGrpSpPr/>
          <p:nvPr/>
        </p:nvGrpSpPr>
        <p:grpSpPr>
          <a:xfrm rot="0">
            <a:off x="851452" y="340164"/>
            <a:ext cx="705284" cy="354496"/>
            <a:chOff x="0" y="0"/>
            <a:chExt cx="940378" cy="472661"/>
          </a:xfrm>
        </p:grpSpPr>
        <p:grpSp>
          <p:nvGrpSpPr>
            <p:cNvPr id="15" name="Group 15"/>
            <p:cNvGrpSpPr/>
            <p:nvPr/>
          </p:nvGrpSpPr>
          <p:grpSpPr>
            <a:xfrm rot="0">
              <a:off x="625271" y="78777"/>
              <a:ext cx="315107" cy="315107"/>
              <a:chOff x="0" y="0"/>
              <a:chExt cx="812800" cy="812800"/>
            </a:xfrm>
          </p:grpSpPr>
          <p:sp>
            <p:nvSpPr>
              <p:cNvPr id="16" name="Freeform 1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17" name="TextBox 1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18" name="Group 18"/>
            <p:cNvGrpSpPr/>
            <p:nvPr/>
          </p:nvGrpSpPr>
          <p:grpSpPr>
            <a:xfrm rot="0">
              <a:off x="0" y="0"/>
              <a:ext cx="472661" cy="472661"/>
              <a:chOff x="0" y="0"/>
              <a:chExt cx="812800" cy="812800"/>
            </a:xfrm>
          </p:grpSpPr>
          <p:sp>
            <p:nvSpPr>
              <p:cNvPr id="19" name="Freeform 1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0" name="TextBox 20"/>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grpSp>
        <p:nvGrpSpPr>
          <p:cNvPr id="21" name="Group 21"/>
          <p:cNvGrpSpPr/>
          <p:nvPr/>
        </p:nvGrpSpPr>
        <p:grpSpPr>
          <a:xfrm rot="5400000">
            <a:off x="144319" y="1076419"/>
            <a:ext cx="705284" cy="354496"/>
            <a:chOff x="0" y="0"/>
            <a:chExt cx="940378" cy="472661"/>
          </a:xfrm>
        </p:grpSpPr>
        <p:grpSp>
          <p:nvGrpSpPr>
            <p:cNvPr id="22" name="Group 22"/>
            <p:cNvGrpSpPr/>
            <p:nvPr/>
          </p:nvGrpSpPr>
          <p:grpSpPr>
            <a:xfrm rot="0">
              <a:off x="625271" y="78777"/>
              <a:ext cx="315107" cy="315107"/>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4" name="TextBox 24"/>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nvGrpSpPr>
            <p:cNvPr id="25" name="Group 25"/>
            <p:cNvGrpSpPr/>
            <p:nvPr/>
          </p:nvGrpSpPr>
          <p:grpSpPr>
            <a:xfrm rot="0">
              <a:off x="0" y="0"/>
              <a:ext cx="472661" cy="472661"/>
              <a:chOff x="0" y="0"/>
              <a:chExt cx="812800" cy="812800"/>
            </a:xfrm>
          </p:grpSpPr>
          <p:sp>
            <p:nvSpPr>
              <p:cNvPr id="26" name="Freeform 2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BC8B1"/>
              </a:solidFill>
            </p:spPr>
          </p:sp>
          <p:sp>
            <p:nvSpPr>
              <p:cNvPr id="27" name="TextBox 27"/>
              <p:cNvSpPr txBox="1"/>
              <p:nvPr/>
            </p:nvSpPr>
            <p:spPr>
              <a:xfrm>
                <a:off x="76200" y="28575"/>
                <a:ext cx="660400" cy="708025"/>
              </a:xfrm>
              <a:prstGeom prst="rect">
                <a:avLst/>
              </a:prstGeom>
            </p:spPr>
            <p:txBody>
              <a:bodyPr lIns="50800" tIns="50800" rIns="50800" bIns="50800" rtlCol="0" anchor="ctr"/>
              <a:lstStyle/>
              <a:p>
                <a:pPr algn="ctr">
                  <a:lnSpc>
                    <a:spcPts val="3010"/>
                  </a:lnSpc>
                </a:pPr>
              </a:p>
            </p:txBody>
          </p:sp>
        </p:grpSp>
      </p:grpSp>
      <p:sp>
        <p:nvSpPr>
          <p:cNvPr id="28" name="TextBox 28"/>
          <p:cNvSpPr txBox="1"/>
          <p:nvPr/>
        </p:nvSpPr>
        <p:spPr>
          <a:xfrm>
            <a:off x="3300656" y="4603400"/>
            <a:ext cx="10065490" cy="834031"/>
          </a:xfrm>
          <a:prstGeom prst="rect">
            <a:avLst/>
          </a:prstGeom>
        </p:spPr>
        <p:txBody>
          <a:bodyPr lIns="0" tIns="0" rIns="0" bIns="0" rtlCol="0" anchor="t">
            <a:spAutoFit/>
          </a:bodyPr>
          <a:lstStyle/>
          <a:p>
            <a:pPr marL="0" lvl="0" indent="0" algn="ctr">
              <a:lnSpc>
                <a:spcPts val="6500"/>
              </a:lnSpc>
            </a:pPr>
            <a:r>
              <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rPr>
              <a:t>FUTURE SCOPE</a:t>
            </a:r>
            <a:endParaRPr lang="en-US" sz="5700" b="1">
              <a:solidFill>
                <a:srgbClr val="5F6F52"/>
              </a:solidFill>
              <a:latin typeface="Glacial Indifference Bold" panose="00000800000000000000"/>
              <a:ea typeface="Glacial Indifference Bold" panose="00000800000000000000"/>
              <a:cs typeface="Glacial Indifference Bold" panose="00000800000000000000"/>
              <a:sym typeface="Glacial Indifference Bold" panose="00000800000000000000"/>
            </a:endParaRPr>
          </a:p>
        </p:txBody>
      </p:sp>
      <p:sp>
        <p:nvSpPr>
          <p:cNvPr id="29" name="TextBox 29"/>
          <p:cNvSpPr txBox="1"/>
          <p:nvPr/>
        </p:nvSpPr>
        <p:spPr>
          <a:xfrm>
            <a:off x="733291" y="5048250"/>
            <a:ext cx="16053859" cy="3054994"/>
          </a:xfrm>
          <a:prstGeom prst="rect">
            <a:avLst/>
          </a:prstGeom>
        </p:spPr>
        <p:txBody>
          <a:bodyPr lIns="0" tIns="0" rIns="0" bIns="0" rtlCol="0" anchor="t">
            <a:spAutoFit/>
          </a:bodyPr>
          <a:lstStyle/>
          <a:p>
            <a:pPr algn="l">
              <a:lnSpc>
                <a:spcPts val="4865"/>
              </a:lnSpc>
            </a:p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Multi-jurisdiction legal support</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Multilingual legal document generation</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749935" lvl="1" indent="-375285" algn="l">
              <a:lnSpc>
                <a:spcPts val="4865"/>
              </a:lnSpc>
              <a:buFont typeface="Arial" panose="020B0604020202020204"/>
              <a:buChar char="•"/>
            </a:pPr>
            <a:r>
              <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rPr>
              <a:t>Enhanced explainable verdict summaries</a:t>
            </a:r>
            <a:endParaRPr lang="en-US" sz="3475">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4865"/>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8443</Words>
  <Application>WPS Presentation</Application>
  <PresentationFormat>On-screen Show (4:3)</PresentationFormat>
  <Paragraphs>303</Paragraphs>
  <Slides>30</Slides>
  <Notes>0</Notes>
  <HiddenSlides>0</HiddenSlides>
  <MMClips>0</MMClips>
  <ScaleCrop>false</ScaleCrop>
  <HeadingPairs>
    <vt:vector size="6" baseType="variant">
      <vt:variant>
        <vt:lpstr>已用的字体</vt:lpstr>
      </vt:variant>
      <vt:variant>
        <vt:i4>12</vt:i4>
      </vt:variant>
      <vt:variant>
        <vt:lpstr>主题</vt:lpstr>
      </vt:variant>
      <vt:variant>
        <vt:i4>1</vt:i4>
      </vt:variant>
      <vt:variant>
        <vt:lpstr>幻灯片标题</vt:lpstr>
      </vt:variant>
      <vt:variant>
        <vt:i4>30</vt:i4>
      </vt:variant>
    </vt:vector>
  </HeadingPairs>
  <TitlesOfParts>
    <vt:vector size="43" baseType="lpstr">
      <vt:lpstr>Arial</vt:lpstr>
      <vt:lpstr>SimSun</vt:lpstr>
      <vt:lpstr>Wingdings</vt:lpstr>
      <vt:lpstr>Glacial Indifference Bold</vt:lpstr>
      <vt:lpstr>Glacial Indifference</vt:lpstr>
      <vt:lpstr>Times New Roman Bold</vt:lpstr>
      <vt:lpstr>Times New Roman</vt:lpstr>
      <vt:lpstr>Arial</vt:lpstr>
      <vt:lpstr>Calibri</vt:lpstr>
      <vt:lpstr>Microsoft YaHei</vt:lpstr>
      <vt:lpstr>Arial Unicode MS</vt:lpstr>
      <vt:lpstr>Canva Sans Bold</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5 Review 3</dc:title>
  <dc:creator/>
  <cp:lastModifiedBy>PRAMOD MOTUPALLI</cp:lastModifiedBy>
  <cp:revision>3</cp:revision>
  <dcterms:created xsi:type="dcterms:W3CDTF">2006-08-16T00:00:00Z</dcterms:created>
  <dcterms:modified xsi:type="dcterms:W3CDTF">2026-03-05T06:15:24Z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B7D3B5577DF54AE3A8DB688B68560674_12</vt:lpwstr>
  </property>
  <property fmtid="{D5CDD505-2E9C-101B-9397-08002B2CF9AE}" pid="3" name="KSOProductBuildVer">
    <vt:lpwstr>2057-12.2.0.23197</vt:lpwstr>
  </property>
</Properties>
</file>